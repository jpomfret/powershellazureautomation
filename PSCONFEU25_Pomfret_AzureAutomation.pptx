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97" r:id="rId5"/>
    <p:sldMasterId id="2147483695" r:id="rId6"/>
    <p:sldMasterId id="2147483684" r:id="rId7"/>
  </p:sldMasterIdLst>
  <p:notesMasterIdLst>
    <p:notesMasterId r:id="rId36"/>
  </p:notesMasterIdLst>
  <p:handoutMasterIdLst>
    <p:handoutMasterId r:id="rId37"/>
  </p:handoutMasterIdLst>
  <p:sldIdLst>
    <p:sldId id="271" r:id="rId8"/>
    <p:sldId id="272" r:id="rId9"/>
    <p:sldId id="259" r:id="rId10"/>
    <p:sldId id="269" r:id="rId11"/>
    <p:sldId id="270" r:id="rId12"/>
    <p:sldId id="273" r:id="rId13"/>
    <p:sldId id="261" r:id="rId14"/>
    <p:sldId id="274" r:id="rId15"/>
    <p:sldId id="260" r:id="rId16"/>
    <p:sldId id="275" r:id="rId17"/>
    <p:sldId id="276" r:id="rId18"/>
    <p:sldId id="281" r:id="rId19"/>
    <p:sldId id="280" r:id="rId20"/>
    <p:sldId id="285" r:id="rId21"/>
    <p:sldId id="282" r:id="rId22"/>
    <p:sldId id="283" r:id="rId23"/>
    <p:sldId id="286" r:id="rId24"/>
    <p:sldId id="284" r:id="rId25"/>
    <p:sldId id="291" r:id="rId26"/>
    <p:sldId id="294" r:id="rId27"/>
    <p:sldId id="292" r:id="rId28"/>
    <p:sldId id="293" r:id="rId29"/>
    <p:sldId id="295" r:id="rId30"/>
    <p:sldId id="264" r:id="rId31"/>
    <p:sldId id="265" r:id="rId32"/>
    <p:sldId id="263" r:id="rId33"/>
    <p:sldId id="266" r:id="rId34"/>
    <p:sldId id="26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session" id="{9248E0E9-B469-42C5-B521-34DBB63F9E0C}">
          <p14:sldIdLst>
            <p14:sldId id="271"/>
            <p14:sldId id="272"/>
            <p14:sldId id="259"/>
            <p14:sldId id="269"/>
            <p14:sldId id="270"/>
          </p14:sldIdLst>
        </p14:section>
        <p14:section name="The session" id="{9BCE8471-468A-4538-82B3-E4E62B0A593E}">
          <p14:sldIdLst>
            <p14:sldId id="273"/>
            <p14:sldId id="261"/>
            <p14:sldId id="274"/>
            <p14:sldId id="260"/>
            <p14:sldId id="275"/>
            <p14:sldId id="276"/>
            <p14:sldId id="281"/>
            <p14:sldId id="280"/>
            <p14:sldId id="285"/>
            <p14:sldId id="282"/>
            <p14:sldId id="283"/>
            <p14:sldId id="286"/>
            <p14:sldId id="284"/>
            <p14:sldId id="291"/>
            <p14:sldId id="294"/>
            <p14:sldId id="292"/>
            <p14:sldId id="293"/>
            <p14:sldId id="295"/>
            <p14:sldId id="264"/>
            <p14:sldId id="265"/>
            <p14:sldId id="263"/>
            <p14:sldId id="266"/>
            <p14:sldId id="26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297"/>
    <a:srgbClr val="000000"/>
    <a:srgbClr val="3B2B46"/>
    <a:srgbClr val="FFFFFF"/>
    <a:srgbClr val="346296"/>
    <a:srgbClr val="E646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843038-CD4A-4674-B805-EDBE7D27F4F6}" v="9" dt="2025-02-12T11:04:46.2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7" autoAdjust="0"/>
    <p:restoredTop sz="72650" autoAdjust="0"/>
  </p:normalViewPr>
  <p:slideViewPr>
    <p:cSldViewPr snapToGrid="0">
      <p:cViewPr varScale="1">
        <p:scale>
          <a:sx n="80" d="100"/>
          <a:sy n="80" d="100"/>
        </p:scale>
        <p:origin x="1200" y="9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200" d="100"/>
          <a:sy n="200" d="100"/>
        </p:scale>
        <p:origin x="1392" y="14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viewProps" Target="viewProps.xml"/><Relationship Id="rId21" Type="http://schemas.openxmlformats.org/officeDocument/2006/relationships/slide" Target="slides/slide14.xml"/><Relationship Id="rId34" Type="http://schemas.openxmlformats.org/officeDocument/2006/relationships/slide" Target="slides/slide27.xml"/><Relationship Id="rId42"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DC4E67-8CB2-26CB-9842-22F9A691D9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CE31EB5F-53B0-CDA3-72A4-3FA9BE40D0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440670-43D7-400A-ABC5-B69E064DBB37}" type="datetimeFigureOut">
              <a:rPr lang="en-GB" smtClean="0"/>
              <a:t>21/06/2025</a:t>
            </a:fld>
            <a:endParaRPr lang="en-GB"/>
          </a:p>
        </p:txBody>
      </p:sp>
      <p:sp>
        <p:nvSpPr>
          <p:cNvPr id="4" name="Espace réservé du pied de page 3">
            <a:extLst>
              <a:ext uri="{FF2B5EF4-FFF2-40B4-BE49-F238E27FC236}">
                <a16:creationId xmlns:a16="http://schemas.microsoft.com/office/drawing/2014/main" id="{00EB1E06-E4F0-A1A2-1EFB-AD58FA1AF7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47061963-6110-4C16-C593-C8C56E488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274045-2E90-4839-9E75-1C1FCF04B584}" type="slidenum">
              <a:rPr lang="en-GB" smtClean="0"/>
              <a:t>‹#›</a:t>
            </a:fld>
            <a:endParaRPr lang="en-GB"/>
          </a:p>
        </p:txBody>
      </p:sp>
    </p:spTree>
    <p:extLst>
      <p:ext uri="{BB962C8B-B14F-4D97-AF65-F5344CB8AC3E}">
        <p14:creationId xmlns:p14="http://schemas.microsoft.com/office/powerpoint/2010/main" val="2140183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B03A4-75C9-4E3D-9183-2102CA9AEC33}" type="datetimeFigureOut">
              <a:rPr lang="en-GB" smtClean="0"/>
              <a:t>21/06/2025</a:t>
            </a:fld>
            <a:endParaRPr lang="en-GB"/>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9206-A81D-4F76-8486-302187992F73}" type="slidenum">
              <a:rPr lang="en-GB" smtClean="0"/>
              <a:t>‹#›</a:t>
            </a:fld>
            <a:endParaRPr lang="en-GB"/>
          </a:p>
        </p:txBody>
      </p:sp>
    </p:spTree>
    <p:extLst>
      <p:ext uri="{BB962C8B-B14F-4D97-AF65-F5344CB8AC3E}">
        <p14:creationId xmlns:p14="http://schemas.microsoft.com/office/powerpoint/2010/main" val="323080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High-bandwidth_Digital_Content_Protection"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vimeo.com/thorstenbutz/byourself" TargetMode="External"/><Relationship Id="rId4" Type="http://schemas.openxmlformats.org/officeDocument/2006/relationships/image" Target="../media/image7.png"/></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dev.azure.com/jpomfret7/ProjectPomfret/_workitems/recentlyupdated/"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85800" y="4400549"/>
            <a:ext cx="2743200" cy="4467225"/>
          </a:xfrm>
        </p:spPr>
        <p:txBody>
          <a:bodyPr/>
          <a:lstStyle/>
          <a:p>
            <a:pPr>
              <a:lnSpc>
                <a:spcPct val="110000"/>
              </a:lnSpc>
            </a:pPr>
            <a:r>
              <a:rPr lang="en-US" sz="900" b="1" dirty="0">
                <a:latin typeface="Aptos" panose="020B0004020202020204" pitchFamily="34" charset="0"/>
              </a:rPr>
              <a:t>The fine print (additional information)</a:t>
            </a:r>
          </a:p>
          <a:p>
            <a:pPr>
              <a:lnSpc>
                <a:spcPct val="110000"/>
              </a:lnSpc>
            </a:pPr>
            <a:endParaRPr lang="en-US" sz="900" dirty="0">
              <a:latin typeface="Aptos" panose="020B0004020202020204" pitchFamily="34" charset="0"/>
            </a:endParaRPr>
          </a:p>
          <a:p>
            <a:pPr>
              <a:lnSpc>
                <a:spcPct val="110000"/>
              </a:lnSpc>
            </a:pPr>
            <a:r>
              <a:rPr lang="en-US" sz="900" dirty="0">
                <a:latin typeface="Aptos" panose="020B0004020202020204" pitchFamily="34" charset="0"/>
              </a:rPr>
              <a:t>Why should you care about HDCP? </a:t>
            </a:r>
          </a:p>
          <a:p>
            <a:pPr>
              <a:lnSpc>
                <a:spcPct val="110000"/>
              </a:lnSpc>
            </a:pPr>
            <a:endParaRPr lang="en-US" sz="900" dirty="0">
              <a:latin typeface="Aptos" panose="020B0004020202020204" pitchFamily="34" charset="0"/>
            </a:endParaRPr>
          </a:p>
          <a:p>
            <a:pPr>
              <a:lnSpc>
                <a:spcPct val="110000"/>
              </a:lnSpc>
            </a:pPr>
            <a:r>
              <a:rPr lang="en-US" sz="900" dirty="0">
                <a:latin typeface="Aptos" panose="020B0004020202020204" pitchFamily="34" charset="0"/>
              </a:rPr>
              <a:t>"</a:t>
            </a:r>
            <a:r>
              <a:rPr lang="en-US" sz="900" i="1" dirty="0">
                <a:latin typeface="Aptos" panose="020B0004020202020204" pitchFamily="34" charset="0"/>
              </a:rPr>
              <a:t>High-bandwidth Digital Content Protection (HDCP) is a form of digital copy protection developed by Intel Corporation to prevent copying of digital audio and video content as it travels across connections. Types of connections include DisplayPort (DP), Digital Visual Interface (DVI), and High-Definition Multimedia Interface (HDMI), as well as less popular or now deprecated protocols like Gigabit Video Interface (GVIF) and Unified Display Interface (UDI).</a:t>
            </a:r>
            <a:r>
              <a:rPr lang="en-US" sz="900" dirty="0">
                <a:latin typeface="Aptos" panose="020B0004020202020204" pitchFamily="34" charset="0"/>
              </a:rPr>
              <a:t>"</a:t>
            </a:r>
          </a:p>
          <a:p>
            <a:pPr>
              <a:lnSpc>
                <a:spcPct val="110000"/>
              </a:lnSpc>
            </a:pPr>
            <a:r>
              <a:rPr lang="de-DE" sz="900" dirty="0">
                <a:latin typeface="Aptos" panose="020B0004020202020204" pitchFamily="34" charset="0"/>
                <a:hlinkClick r:id="rId3"/>
              </a:rPr>
              <a:t>https://en.wikipedia.org/wiki/High-bandwidth_Digital_Content_Protection</a:t>
            </a:r>
            <a:endParaRPr lang="de-DE" sz="900" dirty="0">
              <a:latin typeface="Aptos" panose="020B0004020202020204" pitchFamily="34" charset="0"/>
            </a:endParaRPr>
          </a:p>
          <a:p>
            <a:pPr>
              <a:lnSpc>
                <a:spcPct val="110000"/>
              </a:lnSpc>
            </a:pPr>
            <a:endParaRPr lang="de-DE" sz="900" dirty="0">
              <a:latin typeface="Aptos" panose="020B0004020202020204" pitchFamily="34" charset="0"/>
            </a:endParaRPr>
          </a:p>
          <a:p>
            <a:pPr>
              <a:lnSpc>
                <a:spcPct val="110000"/>
              </a:lnSpc>
            </a:pPr>
            <a:r>
              <a:rPr lang="de-DE" sz="900" dirty="0" err="1">
                <a:latin typeface="Aptos" panose="020B0004020202020204" pitchFamily="34" charset="0"/>
              </a:rPr>
              <a:t>Some</a:t>
            </a:r>
            <a:r>
              <a:rPr lang="de-DE" sz="900" dirty="0">
                <a:latin typeface="Aptos" panose="020B0004020202020204" pitchFamily="34" charset="0"/>
              </a:rPr>
              <a:t> </a:t>
            </a:r>
            <a:r>
              <a:rPr lang="de-DE" sz="900" dirty="0" err="1">
                <a:latin typeface="Aptos" panose="020B0004020202020204" pitchFamily="34" charset="0"/>
              </a:rPr>
              <a:t>notebooks</a:t>
            </a:r>
            <a:r>
              <a:rPr lang="de-DE" sz="900" dirty="0">
                <a:latin typeface="Aptos" panose="020B0004020202020204" pitchFamily="34" charset="0"/>
              </a:rPr>
              <a:t> </a:t>
            </a:r>
            <a:r>
              <a:rPr lang="de-DE" sz="900" dirty="0" err="1">
                <a:latin typeface="Aptos" panose="020B0004020202020204" pitchFamily="34" charset="0"/>
              </a:rPr>
              <a:t>ignore</a:t>
            </a:r>
            <a:r>
              <a:rPr lang="de-DE" sz="900" dirty="0">
                <a:latin typeface="Aptos" panose="020B0004020202020204" pitchFamily="34" charset="0"/>
              </a:rPr>
              <a:t> </a:t>
            </a:r>
            <a:r>
              <a:rPr lang="de-DE" sz="900" dirty="0" err="1">
                <a:latin typeface="Aptos" panose="020B0004020202020204" pitchFamily="34" charset="0"/>
              </a:rPr>
              <a:t>the</a:t>
            </a:r>
            <a:r>
              <a:rPr lang="de-DE" sz="900" dirty="0">
                <a:latin typeface="Aptos" panose="020B0004020202020204" pitchFamily="34" charset="0"/>
              </a:rPr>
              <a:t> HDCP </a:t>
            </a:r>
            <a:r>
              <a:rPr lang="de-DE" sz="900" dirty="0" err="1">
                <a:latin typeface="Aptos" panose="020B0004020202020204" pitchFamily="34" charset="0"/>
              </a:rPr>
              <a:t>standard</a:t>
            </a:r>
            <a:r>
              <a:rPr lang="de-DE" sz="900" dirty="0">
                <a:latin typeface="Aptos" panose="020B0004020202020204" pitchFamily="34" charset="0"/>
              </a:rPr>
              <a:t>, </a:t>
            </a:r>
            <a:r>
              <a:rPr lang="de-DE" sz="900" dirty="0" err="1">
                <a:latin typeface="Aptos" panose="020B0004020202020204" pitchFamily="34" charset="0"/>
              </a:rPr>
              <a:t>some</a:t>
            </a:r>
            <a:r>
              <a:rPr lang="de-DE" sz="900" dirty="0">
                <a:latin typeface="Aptos" panose="020B0004020202020204" pitchFamily="34" charset="0"/>
              </a:rPr>
              <a:t> </a:t>
            </a:r>
            <a:r>
              <a:rPr lang="de-DE" sz="900" dirty="0" err="1">
                <a:latin typeface="Aptos" panose="020B0004020202020204" pitchFamily="34" charset="0"/>
              </a:rPr>
              <a:t>vendors</a:t>
            </a:r>
            <a:r>
              <a:rPr lang="de-DE" sz="900" dirty="0">
                <a:latin typeface="Aptos" panose="020B0004020202020204" pitchFamily="34" charset="0"/>
              </a:rPr>
              <a:t> </a:t>
            </a:r>
            <a:r>
              <a:rPr lang="de-DE" sz="900" dirty="0" err="1">
                <a:latin typeface="Aptos" panose="020B0004020202020204" pitchFamily="34" charset="0"/>
              </a:rPr>
              <a:t>comply</a:t>
            </a:r>
            <a:r>
              <a:rPr lang="de-DE" sz="900" dirty="0">
                <a:latin typeface="Aptos" panose="020B0004020202020204" pitchFamily="34" charset="0"/>
              </a:rPr>
              <a:t> </a:t>
            </a:r>
            <a:r>
              <a:rPr lang="de-DE" sz="900" dirty="0" err="1">
                <a:latin typeface="Aptos" panose="020B0004020202020204" pitchFamily="34" charset="0"/>
              </a:rPr>
              <a:t>with</a:t>
            </a:r>
            <a:r>
              <a:rPr lang="de-DE" sz="900" dirty="0">
                <a:latin typeface="Aptos" panose="020B0004020202020204" pitchFamily="34" charset="0"/>
              </a:rPr>
              <a:t> </a:t>
            </a:r>
            <a:r>
              <a:rPr lang="de-DE" sz="900" dirty="0" err="1">
                <a:latin typeface="Aptos" panose="020B0004020202020204" pitchFamily="34" charset="0"/>
              </a:rPr>
              <a:t>the</a:t>
            </a:r>
            <a:r>
              <a:rPr lang="de-DE" sz="900" dirty="0">
                <a:latin typeface="Aptos" panose="020B0004020202020204" pitchFamily="34" charset="0"/>
              </a:rPr>
              <a:t> </a:t>
            </a:r>
            <a:r>
              <a:rPr lang="de-DE" sz="900" dirty="0" err="1">
                <a:latin typeface="Aptos" panose="020B0004020202020204" pitchFamily="34" charset="0"/>
              </a:rPr>
              <a:t>standard</a:t>
            </a:r>
            <a:r>
              <a:rPr lang="de-DE" sz="900" dirty="0">
                <a:latin typeface="Aptos" panose="020B0004020202020204" pitchFamily="34" charset="0"/>
              </a:rPr>
              <a:t>. Apple and Microsoft </a:t>
            </a:r>
            <a:r>
              <a:rPr lang="de-DE" sz="900" dirty="0" err="1">
                <a:latin typeface="Aptos" panose="020B0004020202020204" pitchFamily="34" charset="0"/>
              </a:rPr>
              <a:t>are</a:t>
            </a:r>
            <a:r>
              <a:rPr lang="de-DE" sz="900" dirty="0">
                <a:latin typeface="Aptos" panose="020B0004020202020204" pitchFamily="34" charset="0"/>
              </a:rPr>
              <a:t> </a:t>
            </a:r>
            <a:r>
              <a:rPr lang="de-DE" sz="900" dirty="0" err="1">
                <a:latin typeface="Aptos" panose="020B0004020202020204" pitchFamily="34" charset="0"/>
              </a:rPr>
              <a:t>somehow</a:t>
            </a:r>
            <a:r>
              <a:rPr lang="de-DE" sz="900" dirty="0">
                <a:latin typeface="Aptos" panose="020B0004020202020204" pitchFamily="34" charset="0"/>
              </a:rPr>
              <a:t> </a:t>
            </a:r>
            <a:r>
              <a:rPr lang="de-DE" sz="900" dirty="0" err="1">
                <a:latin typeface="Aptos" panose="020B0004020202020204" pitchFamily="34" charset="0"/>
              </a:rPr>
              <a:t>famous</a:t>
            </a:r>
            <a:r>
              <a:rPr lang="de-DE" sz="900" dirty="0">
                <a:latin typeface="Aptos" panose="020B0004020202020204" pitchFamily="34" charset="0"/>
              </a:rPr>
              <a:t> </a:t>
            </a:r>
            <a:r>
              <a:rPr lang="de-DE" sz="900" dirty="0" err="1">
                <a:latin typeface="Aptos" panose="020B0004020202020204" pitchFamily="34" charset="0"/>
              </a:rPr>
              <a:t>for</a:t>
            </a:r>
            <a:r>
              <a:rPr lang="de-DE" sz="900" dirty="0">
                <a:latin typeface="Aptos" panose="020B0004020202020204" pitchFamily="34" charset="0"/>
              </a:rPr>
              <a:t> </a:t>
            </a:r>
            <a:r>
              <a:rPr lang="de-DE" sz="900" dirty="0" err="1">
                <a:latin typeface="Aptos" panose="020B0004020202020204" pitchFamily="34" charset="0"/>
              </a:rPr>
              <a:t>strictly</a:t>
            </a:r>
            <a:r>
              <a:rPr lang="de-DE" sz="900" dirty="0">
                <a:latin typeface="Aptos" panose="020B0004020202020204" pitchFamily="34" charset="0"/>
              </a:rPr>
              <a:t> </a:t>
            </a:r>
            <a:r>
              <a:rPr lang="de-DE" sz="900" dirty="0" err="1">
                <a:latin typeface="Aptos" panose="020B0004020202020204" pitchFamily="34" charset="0"/>
              </a:rPr>
              <a:t>following</a:t>
            </a:r>
            <a:r>
              <a:rPr lang="de-DE" sz="900" dirty="0">
                <a:latin typeface="Aptos" panose="020B0004020202020204" pitchFamily="34" charset="0"/>
              </a:rPr>
              <a:t> </a:t>
            </a:r>
            <a:r>
              <a:rPr lang="de-DE" sz="900" dirty="0" err="1">
                <a:latin typeface="Aptos" panose="020B0004020202020204" pitchFamily="34" charset="0"/>
              </a:rPr>
              <a:t>the</a:t>
            </a:r>
            <a:r>
              <a:rPr lang="de-DE" sz="900" dirty="0">
                <a:latin typeface="Aptos" panose="020B0004020202020204" pitchFamily="34" charset="0"/>
              </a:rPr>
              <a:t> HDCP </a:t>
            </a:r>
            <a:r>
              <a:rPr lang="de-DE" sz="900" dirty="0" err="1">
                <a:latin typeface="Aptos" panose="020B0004020202020204" pitchFamily="34" charset="0"/>
              </a:rPr>
              <a:t>guidelines</a:t>
            </a:r>
            <a:r>
              <a:rPr lang="de-DE" sz="900" dirty="0">
                <a:latin typeface="Aptos" panose="020B0004020202020204" pitchFamily="34" charset="0"/>
              </a:rPr>
              <a:t>. </a:t>
            </a:r>
            <a:r>
              <a:rPr lang="de-DE" sz="900" dirty="0" err="1">
                <a:latin typeface="Aptos" panose="020B0004020202020204" pitchFamily="34" charset="0"/>
              </a:rPr>
              <a:t>Sadly</a:t>
            </a:r>
            <a:r>
              <a:rPr lang="de-DE" sz="900" dirty="0">
                <a:latin typeface="Aptos" panose="020B0004020202020204" pitchFamily="34" charset="0"/>
              </a:rPr>
              <a:t>, </a:t>
            </a:r>
            <a:r>
              <a:rPr lang="de-DE" sz="900" dirty="0" err="1">
                <a:latin typeface="Aptos" panose="020B0004020202020204" pitchFamily="34" charset="0"/>
              </a:rPr>
              <a:t>we</a:t>
            </a:r>
            <a:r>
              <a:rPr lang="de-DE" sz="900" dirty="0">
                <a:latin typeface="Aptos" panose="020B0004020202020204" pitchFamily="34" charset="0"/>
              </a:rPr>
              <a:t> will not </a:t>
            </a:r>
            <a:r>
              <a:rPr lang="de-DE" sz="900" dirty="0" err="1">
                <a:latin typeface="Aptos" panose="020B0004020202020204" pitchFamily="34" charset="0"/>
              </a:rPr>
              <a:t>be</a:t>
            </a:r>
            <a:r>
              <a:rPr lang="de-DE" sz="900" dirty="0">
                <a:latin typeface="Aptos" panose="020B0004020202020204" pitchFamily="34" charset="0"/>
              </a:rPr>
              <a:t> </a:t>
            </a:r>
            <a:r>
              <a:rPr lang="de-DE" sz="900" dirty="0" err="1">
                <a:latin typeface="Aptos" panose="020B0004020202020204" pitchFamily="34" charset="0"/>
              </a:rPr>
              <a:t>able</a:t>
            </a:r>
            <a:r>
              <a:rPr lang="de-DE" sz="900" dirty="0">
                <a:latin typeface="Aptos" panose="020B0004020202020204" pitchFamily="34" charset="0"/>
              </a:rPr>
              <a:t> </a:t>
            </a:r>
            <a:r>
              <a:rPr lang="de-DE" sz="900" dirty="0" err="1">
                <a:latin typeface="Aptos" panose="020B0004020202020204" pitchFamily="34" charset="0"/>
              </a:rPr>
              <a:t>to</a:t>
            </a:r>
            <a:r>
              <a:rPr lang="de-DE" sz="900" dirty="0">
                <a:latin typeface="Aptos" panose="020B0004020202020204" pitchFamily="34" charset="0"/>
              </a:rPr>
              <a:t> </a:t>
            </a:r>
            <a:r>
              <a:rPr lang="de-DE" sz="900" dirty="0" err="1">
                <a:latin typeface="Aptos" panose="020B0004020202020204" pitchFamily="34" charset="0"/>
              </a:rPr>
              <a:t>guarantee</a:t>
            </a:r>
            <a:r>
              <a:rPr lang="de-DE" sz="900" dirty="0">
                <a:latin typeface="Aptos" panose="020B0004020202020204" pitchFamily="34" charset="0"/>
              </a:rPr>
              <a:t>, </a:t>
            </a:r>
            <a:r>
              <a:rPr lang="de-DE" sz="900" dirty="0" err="1">
                <a:latin typeface="Aptos" panose="020B0004020202020204" pitchFamily="34" charset="0"/>
              </a:rPr>
              <a:t>that</a:t>
            </a:r>
            <a:r>
              <a:rPr lang="de-DE" sz="900" dirty="0">
                <a:latin typeface="Aptos" panose="020B0004020202020204" pitchFamily="34" charset="0"/>
              </a:rPr>
              <a:t> </a:t>
            </a:r>
            <a:r>
              <a:rPr lang="de-DE" sz="900" dirty="0" err="1">
                <a:latin typeface="Aptos" panose="020B0004020202020204" pitchFamily="34" charset="0"/>
              </a:rPr>
              <a:t>your</a:t>
            </a:r>
            <a:r>
              <a:rPr lang="de-DE" sz="900" dirty="0">
                <a:latin typeface="Aptos" panose="020B0004020202020204" pitchFamily="34" charset="0"/>
              </a:rPr>
              <a:t> </a:t>
            </a:r>
            <a:r>
              <a:rPr lang="de-DE" sz="900" dirty="0" err="1">
                <a:latin typeface="Aptos" panose="020B0004020202020204" pitchFamily="34" charset="0"/>
              </a:rPr>
              <a:t>session</a:t>
            </a:r>
            <a:r>
              <a:rPr lang="de-DE" sz="900" dirty="0">
                <a:latin typeface="Aptos" panose="020B0004020202020204" pitchFamily="34" charset="0"/>
              </a:rPr>
              <a:t> </a:t>
            </a:r>
            <a:r>
              <a:rPr lang="de-DE" sz="900" dirty="0" err="1">
                <a:latin typeface="Aptos" panose="020B0004020202020204" pitchFamily="34" charset="0"/>
              </a:rPr>
              <a:t>can</a:t>
            </a:r>
            <a:r>
              <a:rPr lang="de-DE" sz="900" dirty="0">
                <a:latin typeface="Aptos" panose="020B0004020202020204" pitchFamily="34" charset="0"/>
              </a:rPr>
              <a:t> </a:t>
            </a:r>
            <a:r>
              <a:rPr lang="de-DE" sz="900" dirty="0" err="1">
                <a:latin typeface="Aptos" panose="020B0004020202020204" pitchFamily="34" charset="0"/>
              </a:rPr>
              <a:t>be</a:t>
            </a:r>
            <a:r>
              <a:rPr lang="de-DE" sz="900" dirty="0">
                <a:latin typeface="Aptos" panose="020B0004020202020204" pitchFamily="34" charset="0"/>
              </a:rPr>
              <a:t> </a:t>
            </a:r>
            <a:r>
              <a:rPr lang="de-DE" sz="900" dirty="0" err="1">
                <a:latin typeface="Aptos" panose="020B0004020202020204" pitchFamily="34" charset="0"/>
              </a:rPr>
              <a:t>recorded</a:t>
            </a:r>
            <a:r>
              <a:rPr lang="de-DE" sz="900" dirty="0">
                <a:latin typeface="Aptos" panose="020B0004020202020204" pitchFamily="34" charset="0"/>
              </a:rPr>
              <a:t> in </a:t>
            </a:r>
            <a:r>
              <a:rPr lang="de-DE" sz="900" dirty="0" err="1">
                <a:latin typeface="Aptos" panose="020B0004020202020204" pitchFamily="34" charset="0"/>
              </a:rPr>
              <a:t>the</a:t>
            </a:r>
            <a:r>
              <a:rPr lang="de-DE" sz="900" dirty="0">
                <a:latin typeface="Aptos" panose="020B0004020202020204" pitchFamily="34" charset="0"/>
              </a:rPr>
              <a:t> </a:t>
            </a:r>
            <a:r>
              <a:rPr lang="de-DE" sz="900" dirty="0" err="1">
                <a:latin typeface="Aptos" panose="020B0004020202020204" pitchFamily="34" charset="0"/>
              </a:rPr>
              <a:t>latter</a:t>
            </a:r>
            <a:r>
              <a:rPr lang="de-DE" sz="900" dirty="0">
                <a:latin typeface="Aptos" panose="020B0004020202020204" pitchFamily="34" charset="0"/>
              </a:rPr>
              <a:t> </a:t>
            </a:r>
            <a:r>
              <a:rPr lang="de-DE" sz="900" dirty="0" err="1">
                <a:latin typeface="Aptos" panose="020B0004020202020204" pitchFamily="34" charset="0"/>
              </a:rPr>
              <a:t>case</a:t>
            </a:r>
            <a:r>
              <a:rPr lang="de-DE" sz="900" dirty="0">
                <a:latin typeface="Aptos" panose="020B0004020202020204" pitchFamily="34" charset="0"/>
              </a:rPr>
              <a:t>.</a:t>
            </a:r>
          </a:p>
          <a:p>
            <a:pPr>
              <a:lnSpc>
                <a:spcPct val="110000"/>
              </a:lnSpc>
            </a:pPr>
            <a:endParaRPr lang="de-DE" sz="900" dirty="0">
              <a:latin typeface="Aptos" panose="020B0004020202020204" pitchFamily="34" charset="0"/>
            </a:endParaRPr>
          </a:p>
          <a:p>
            <a:pPr>
              <a:lnSpc>
                <a:spcPct val="110000"/>
              </a:lnSpc>
            </a:pPr>
            <a:r>
              <a:rPr lang="de-DE" sz="900" dirty="0">
                <a:latin typeface="Aptos" panose="020B0004020202020204" pitchFamily="34" charset="0"/>
              </a:rPr>
              <a:t>But </a:t>
            </a:r>
            <a:r>
              <a:rPr lang="de-DE" sz="900" dirty="0" err="1">
                <a:latin typeface="Aptos" panose="020B0004020202020204" pitchFamily="34" charset="0"/>
              </a:rPr>
              <a:t>you</a:t>
            </a:r>
            <a:r>
              <a:rPr lang="de-DE" sz="900" dirty="0">
                <a:latin typeface="Aptos" panose="020B0004020202020204" pitchFamily="34" charset="0"/>
              </a:rPr>
              <a:t> </a:t>
            </a:r>
            <a:r>
              <a:rPr lang="de-DE" sz="900" dirty="0" err="1">
                <a:latin typeface="Aptos" panose="020B0004020202020204" pitchFamily="34" charset="0"/>
              </a:rPr>
              <a:t>can</a:t>
            </a:r>
            <a:r>
              <a:rPr lang="de-DE" sz="900" dirty="0">
                <a:latin typeface="Aptos" panose="020B0004020202020204" pitchFamily="34" charset="0"/>
              </a:rPr>
              <a:t> do simple </a:t>
            </a:r>
            <a:r>
              <a:rPr lang="de-DE" sz="900" dirty="0" err="1">
                <a:latin typeface="Aptos" panose="020B0004020202020204" pitchFamily="34" charset="0"/>
              </a:rPr>
              <a:t>things</a:t>
            </a:r>
            <a:r>
              <a:rPr lang="de-DE" sz="900" dirty="0">
                <a:latin typeface="Aptos" panose="020B0004020202020204" pitchFamily="34" charset="0"/>
              </a:rPr>
              <a:t>, </a:t>
            </a:r>
            <a:r>
              <a:rPr lang="de-DE" sz="900" dirty="0" err="1">
                <a:latin typeface="Aptos" panose="020B0004020202020204" pitchFamily="34" charset="0"/>
              </a:rPr>
              <a:t>to</a:t>
            </a:r>
            <a:r>
              <a:rPr lang="de-DE" sz="900" dirty="0">
                <a:latin typeface="Aptos" panose="020B0004020202020204" pitchFamily="34" charset="0"/>
              </a:rPr>
              <a:t>  </a:t>
            </a:r>
            <a:r>
              <a:rPr lang="de-DE" sz="900" dirty="0" err="1">
                <a:latin typeface="Aptos" panose="020B0004020202020204" pitchFamily="34" charset="0"/>
              </a:rPr>
              <a:t>overcome</a:t>
            </a:r>
            <a:r>
              <a:rPr lang="de-DE" sz="900" dirty="0">
                <a:latin typeface="Aptos" panose="020B0004020202020204" pitchFamily="34" charset="0"/>
              </a:rPr>
              <a:t> </a:t>
            </a:r>
            <a:r>
              <a:rPr lang="de-DE" sz="900" dirty="0" err="1">
                <a:latin typeface="Aptos" panose="020B0004020202020204" pitchFamily="34" charset="0"/>
              </a:rPr>
              <a:t>these</a:t>
            </a:r>
            <a:r>
              <a:rPr lang="de-DE" sz="900" dirty="0">
                <a:latin typeface="Aptos" panose="020B0004020202020204" pitchFamily="34" charset="0"/>
              </a:rPr>
              <a:t> </a:t>
            </a:r>
            <a:r>
              <a:rPr lang="de-DE" sz="900" dirty="0" err="1">
                <a:latin typeface="Aptos" panose="020B0004020202020204" pitchFamily="34" charset="0"/>
              </a:rPr>
              <a:t>problems</a:t>
            </a:r>
            <a:r>
              <a:rPr lang="de-DE" sz="900" dirty="0">
                <a:latin typeface="Aptos" panose="020B0004020202020204" pitchFamily="34" charset="0"/>
              </a:rPr>
              <a:t>. </a:t>
            </a:r>
            <a:r>
              <a:rPr lang="en-US" sz="900" dirty="0">
                <a:latin typeface="Aptos" panose="020B0004020202020204" pitchFamily="34" charset="0"/>
              </a:rPr>
              <a:t>It is also very likely that you presented with your notebook before. So you will know, if this worked </a:t>
            </a:r>
            <a:r>
              <a:rPr lang="en-US" sz="900" dirty="0" err="1">
                <a:latin typeface="Aptos" panose="020B0004020202020204" pitchFamily="34" charset="0"/>
              </a:rPr>
              <a:t>fine.If</a:t>
            </a:r>
            <a:r>
              <a:rPr lang="en-US" sz="900" dirty="0">
                <a:latin typeface="Aptos" panose="020B0004020202020204" pitchFamily="34" charset="0"/>
              </a:rPr>
              <a:t> you are in doubt and if the agenda allows, try a dry-run a day before and connect everything.</a:t>
            </a:r>
          </a:p>
          <a:p>
            <a:pPr>
              <a:lnSpc>
                <a:spcPct val="110000"/>
              </a:lnSpc>
            </a:pPr>
            <a:endParaRPr lang="en-US" sz="900" dirty="0">
              <a:latin typeface="Aptos" panose="020B0004020202020204" pitchFamily="34" charset="0"/>
            </a:endParaRPr>
          </a:p>
          <a:p>
            <a:pPr>
              <a:lnSpc>
                <a:spcPct val="110000"/>
              </a:lnSpc>
            </a:pPr>
            <a:endParaRPr lang="de-DE" sz="900" dirty="0">
              <a:latin typeface="Aptos" panose="020B0004020202020204" pitchFamily="34" charset="0"/>
            </a:endParaRPr>
          </a:p>
        </p:txBody>
      </p:sp>
      <p:sp>
        <p:nvSpPr>
          <p:cNvPr id="4" name="Foliennummernplatzhalter 3"/>
          <p:cNvSpPr>
            <a:spLocks noGrp="1"/>
          </p:cNvSpPr>
          <p:nvPr>
            <p:ph type="sldNum" sz="quarter" idx="5"/>
          </p:nvPr>
        </p:nvSpPr>
        <p:spPr/>
        <p:txBody>
          <a:bodyPr/>
          <a:lstStyle/>
          <a:p>
            <a:fld id="{A7839206-A81D-4F76-8486-302187992F73}" type="slidenum">
              <a:rPr lang="en-GB" smtClean="0"/>
              <a:t>1</a:t>
            </a:fld>
            <a:endParaRPr lang="en-GB"/>
          </a:p>
        </p:txBody>
      </p:sp>
      <p:pic>
        <p:nvPicPr>
          <p:cNvPr id="5" name="Grafik 4" descr="https://www.amazon.de/gp/product/B09F2N17H5/ref=ppx_yo_dt_b_asin_title_o09_s00">
            <a:extLst>
              <a:ext uri="{FF2B5EF4-FFF2-40B4-BE49-F238E27FC236}">
                <a16:creationId xmlns:a16="http://schemas.microsoft.com/office/drawing/2014/main" id="{E466A8E6-289E-2C4E-027A-1D532F5BF0BF}"/>
              </a:ext>
            </a:extLst>
          </p:cNvPr>
          <p:cNvPicPr>
            <a:picLocks noChangeAspect="1"/>
          </p:cNvPicPr>
          <p:nvPr/>
        </p:nvPicPr>
        <p:blipFill>
          <a:blip r:embed="rId4"/>
          <a:stretch>
            <a:fillRect/>
          </a:stretch>
        </p:blipFill>
        <p:spPr>
          <a:xfrm>
            <a:off x="3699256" y="5256530"/>
            <a:ext cx="2202687" cy="1967734"/>
          </a:xfrm>
          <a:prstGeom prst="rect">
            <a:avLst/>
          </a:prstGeom>
        </p:spPr>
      </p:pic>
      <p:sp>
        <p:nvSpPr>
          <p:cNvPr id="6" name="Notizenplatzhalter 2">
            <a:extLst>
              <a:ext uri="{FF2B5EF4-FFF2-40B4-BE49-F238E27FC236}">
                <a16:creationId xmlns:a16="http://schemas.microsoft.com/office/drawing/2014/main" id="{6C2E4E82-CC92-21BA-6CC9-5E1EC16B971C}"/>
              </a:ext>
            </a:extLst>
          </p:cNvPr>
          <p:cNvSpPr txBox="1">
            <a:spLocks/>
          </p:cNvSpPr>
          <p:nvPr/>
        </p:nvSpPr>
        <p:spPr>
          <a:xfrm>
            <a:off x="3429000" y="4400548"/>
            <a:ext cx="2743200" cy="4467225"/>
          </a:xfrm>
          <a:prstGeom prst="rect">
            <a:avLst/>
          </a:prstGeom>
        </p:spPr>
        <p:txBody>
          <a:bodyPr vert="horz" lIns="91440" tIns="45720" rIns="91440" bIns="45720" rtlCol="0"/>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a:lnSpc>
                <a:spcPct val="110000"/>
              </a:lnSpc>
            </a:pPr>
            <a:r>
              <a:rPr lang="en-US" sz="900">
                <a:latin typeface="Aptos" panose="020B0004020202020204" pitchFamily="34" charset="0"/>
              </a:rPr>
              <a:t>In general you can easily bypass HDCP restrictions with a cheap splitter (the cheaper the better), just like the one you see below. This is an example device that we bought for 16 euros (in Germany). </a:t>
            </a:r>
          </a:p>
          <a:p>
            <a:pPr>
              <a:lnSpc>
                <a:spcPct val="110000"/>
              </a:lnSpc>
            </a:pPr>
            <a:r>
              <a:rPr lang="en-US" sz="900">
                <a:latin typeface="Aptos" panose="020B0004020202020204" pitchFamily="34" charset="0"/>
              </a:rPr>
              <a:t>Ask us, we will lend you such a device.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r>
              <a:rPr lang="en-US" sz="900">
                <a:latin typeface="Aptos" panose="020B0004020202020204" pitchFamily="34" charset="0"/>
              </a:rPr>
              <a:t>Thorsten also gave a whole presentation about "Broadcasting yourself" -  easy steps to record yourself and create a (backup) session recording on your own. If you want to invest your time and dive deeper, take a look at his recordings and notes:</a:t>
            </a:r>
            <a:endParaRPr lang="de-DE" sz="900">
              <a:latin typeface="Aptos" panose="020B0004020202020204" pitchFamily="34" charset="0"/>
            </a:endParaRPr>
          </a:p>
          <a:p>
            <a:pPr>
              <a:lnSpc>
                <a:spcPct val="110000"/>
              </a:lnSpc>
              <a:spcAft>
                <a:spcPts val="1000"/>
              </a:spcAft>
            </a:pPr>
            <a:r>
              <a:rPr lang="de-DE" sz="900">
                <a:latin typeface="Aptos" panose="020B0004020202020204" pitchFamily="34" charset="0"/>
                <a:hlinkClick r:id="rId5"/>
              </a:rPr>
              <a:t>https://vimeo.com/thorstenbutz/byourself</a:t>
            </a:r>
            <a:endParaRPr lang="de-DE" sz="900">
              <a:latin typeface="Aptos" panose="020B0004020202020204" pitchFamily="34" charset="0"/>
            </a:endParaRPr>
          </a:p>
          <a:p>
            <a:pPr>
              <a:lnSpc>
                <a:spcPct val="110000"/>
              </a:lnSpc>
            </a:pPr>
            <a:r>
              <a:rPr lang="en-US" sz="900">
                <a:latin typeface="Aptos" panose="020B0004020202020204" pitchFamily="34" charset="0"/>
              </a:rPr>
              <a:t>This is of course completely voluntary, but perhaps you will find it helpful. </a:t>
            </a: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en-US" sz="90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endParaRPr lang="en-DE" sz="900">
              <a:latin typeface="Aptos" panose="020B0004020202020204" pitchFamily="34" charset="0"/>
            </a:endParaRPr>
          </a:p>
        </p:txBody>
      </p:sp>
    </p:spTree>
    <p:extLst>
      <p:ext uri="{BB962C8B-B14F-4D97-AF65-F5344CB8AC3E}">
        <p14:creationId xmlns:p14="http://schemas.microsoft.com/office/powerpoint/2010/main" val="41402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2</a:t>
            </a:fld>
            <a:endParaRPr lang="en-GB"/>
          </a:p>
        </p:txBody>
      </p:sp>
    </p:spTree>
    <p:extLst>
      <p:ext uri="{BB962C8B-B14F-4D97-AF65-F5344CB8AC3E}">
        <p14:creationId xmlns:p14="http://schemas.microsoft.com/office/powerpoint/2010/main" val="3020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3</a:t>
            </a:fld>
            <a:endParaRPr lang="en-GB"/>
          </a:p>
        </p:txBody>
      </p:sp>
    </p:spTree>
    <p:extLst>
      <p:ext uri="{BB962C8B-B14F-4D97-AF65-F5344CB8AC3E}">
        <p14:creationId xmlns:p14="http://schemas.microsoft.com/office/powerpoint/2010/main" val="4198534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4</a:t>
            </a:fld>
            <a:endParaRPr lang="en-GB"/>
          </a:p>
        </p:txBody>
      </p:sp>
    </p:spTree>
    <p:extLst>
      <p:ext uri="{BB962C8B-B14F-4D97-AF65-F5344CB8AC3E}">
        <p14:creationId xmlns:p14="http://schemas.microsoft.com/office/powerpoint/2010/main" val="18827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5</a:t>
            </a:fld>
            <a:endParaRPr lang="en-GB"/>
          </a:p>
        </p:txBody>
      </p:sp>
    </p:spTree>
    <p:extLst>
      <p:ext uri="{BB962C8B-B14F-4D97-AF65-F5344CB8AC3E}">
        <p14:creationId xmlns:p14="http://schemas.microsoft.com/office/powerpoint/2010/main" val="2166726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GB" dirty="0"/>
              <a:t>Asked copilot to make me a picture of someone writing </a:t>
            </a:r>
            <a:r>
              <a:rPr lang="en-GB" dirty="0" err="1"/>
              <a:t>powershell</a:t>
            </a:r>
            <a:r>
              <a:rPr lang="en-GB" dirty="0"/>
              <a:t> in a server room – and I got a woman!</a:t>
            </a:r>
          </a:p>
          <a:p>
            <a:endParaRPr lang="en-GB" dirty="0"/>
          </a:p>
          <a:p>
            <a:r>
              <a:rPr lang="en-GB" dirty="0"/>
              <a:t>We used to have on-prem servers, we could write PowerShell and schedule it as windows scheduled tasks!</a:t>
            </a:r>
          </a:p>
          <a:p>
            <a:endParaRPr lang="en-GB" dirty="0"/>
          </a:p>
          <a:p>
            <a:endParaRPr lang="en-GB" dirty="0"/>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9</a:t>
            </a:fld>
            <a:endParaRPr lang="en-GB"/>
          </a:p>
        </p:txBody>
      </p:sp>
    </p:spTree>
    <p:extLst>
      <p:ext uri="{BB962C8B-B14F-4D97-AF65-F5344CB8AC3E}">
        <p14:creationId xmlns:p14="http://schemas.microsoft.com/office/powerpoint/2010/main" val="33909542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But then our servers and processes were sucked or migrated into the cloud.</a:t>
            </a:r>
          </a:p>
          <a:p>
            <a:endParaRPr lang="en-GB" dirty="0"/>
          </a:p>
          <a:p>
            <a:r>
              <a:rPr lang="en-GB" dirty="0"/>
              <a:t>Things became serverless…  what does this mean?</a:t>
            </a:r>
          </a:p>
          <a:p>
            <a:endParaRPr lang="en-GB" dirty="0"/>
          </a:p>
          <a:p>
            <a:r>
              <a:rPr lang="en-GB" dirty="0"/>
              <a:t>Well instead of virtual machines for every application.</a:t>
            </a:r>
          </a:p>
          <a:p>
            <a:endParaRPr lang="en-GB" dirty="0"/>
          </a:p>
        </p:txBody>
      </p:sp>
      <p:sp>
        <p:nvSpPr>
          <p:cNvPr id="4" name="Slide Number Placeholder 3"/>
          <p:cNvSpPr>
            <a:spLocks noGrp="1"/>
          </p:cNvSpPr>
          <p:nvPr>
            <p:ph type="sldNum" sz="quarter" idx="5"/>
          </p:nvPr>
        </p:nvSpPr>
        <p:spPr/>
        <p:txBody>
          <a:bodyPr/>
          <a:lstStyle/>
          <a:p>
            <a:fld id="{A7839206-A81D-4F76-8486-302187992F73}" type="slidenum">
              <a:rPr lang="en-GB" smtClean="0"/>
              <a:t>10</a:t>
            </a:fld>
            <a:endParaRPr lang="en-GB"/>
          </a:p>
        </p:txBody>
      </p:sp>
    </p:spTree>
    <p:extLst>
      <p:ext uri="{BB962C8B-B14F-4D97-AF65-F5344CB8AC3E}">
        <p14:creationId xmlns:p14="http://schemas.microsoft.com/office/powerpoint/2010/main" val="1524768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get Azure Services – this is a quiz! </a:t>
            </a:r>
          </a:p>
          <a:p>
            <a:r>
              <a:rPr lang="en-GB" dirty="0"/>
              <a:t>There is no operating system for us to schedule tasks on</a:t>
            </a:r>
          </a:p>
          <a:p>
            <a:endParaRPr lang="en-GB" dirty="0"/>
          </a:p>
          <a:p>
            <a:r>
              <a:rPr lang="en-GB" dirty="0"/>
              <a:t>Storage accounts</a:t>
            </a:r>
          </a:p>
          <a:p>
            <a:r>
              <a:rPr lang="en-GB" dirty="0"/>
              <a:t>App services</a:t>
            </a:r>
          </a:p>
          <a:p>
            <a:r>
              <a:rPr lang="en-GB" dirty="0"/>
              <a:t>Databricks</a:t>
            </a:r>
          </a:p>
          <a:p>
            <a:r>
              <a:rPr lang="en-GB" dirty="0"/>
              <a:t>SQL MI</a:t>
            </a:r>
          </a:p>
          <a:p>
            <a:r>
              <a:rPr lang="en-GB" dirty="0"/>
              <a:t>SQL Database</a:t>
            </a:r>
          </a:p>
          <a:p>
            <a:r>
              <a:rPr lang="en-GB" dirty="0"/>
              <a:t>Data Factory</a:t>
            </a:r>
          </a:p>
          <a:p>
            <a:r>
              <a:rPr lang="en-GB" dirty="0"/>
              <a:t>Azure Kubernetes Service</a:t>
            </a:r>
          </a:p>
        </p:txBody>
      </p:sp>
      <p:sp>
        <p:nvSpPr>
          <p:cNvPr id="4" name="Slide Number Placeholder 3"/>
          <p:cNvSpPr>
            <a:spLocks noGrp="1"/>
          </p:cNvSpPr>
          <p:nvPr>
            <p:ph type="sldNum" sz="quarter" idx="5"/>
          </p:nvPr>
        </p:nvSpPr>
        <p:spPr/>
        <p:txBody>
          <a:bodyPr/>
          <a:lstStyle/>
          <a:p>
            <a:fld id="{A7839206-A81D-4F76-8486-302187992F73}" type="slidenum">
              <a:rPr lang="en-GB" smtClean="0"/>
              <a:t>11</a:t>
            </a:fld>
            <a:endParaRPr lang="en-GB"/>
          </a:p>
        </p:txBody>
      </p:sp>
    </p:spTree>
    <p:extLst>
      <p:ext uri="{BB962C8B-B14F-4D97-AF65-F5344CB8AC3E}">
        <p14:creationId xmlns:p14="http://schemas.microsoft.com/office/powerpoint/2010/main" val="4061383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9005E-ABD2-76A7-8A81-5373DEDC2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B9091-5B91-DE6E-F9D5-CF5A5524E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D74A6-3CE8-6EBC-90B4-5294C3490153}"/>
              </a:ext>
            </a:extLst>
          </p:cNvPr>
          <p:cNvSpPr>
            <a:spLocks noGrp="1"/>
          </p:cNvSpPr>
          <p:nvPr>
            <p:ph type="body" idx="1"/>
          </p:nvPr>
        </p:nvSpPr>
        <p:spPr/>
        <p:txBody>
          <a:bodyPr/>
          <a:lstStyle/>
          <a:p>
            <a:r>
              <a:rPr lang="en-GB" dirty="0"/>
              <a:t>There are many options available</a:t>
            </a:r>
          </a:p>
          <a:p>
            <a:r>
              <a:rPr lang="en-GB" dirty="0"/>
              <a:t>We need to decide which tool is right for the job</a:t>
            </a:r>
          </a:p>
          <a:p>
            <a:pPr marL="171450" indent="-171450">
              <a:buFontTx/>
              <a:buChar char="-"/>
            </a:pPr>
            <a:r>
              <a:rPr lang="en-GB" dirty="0"/>
              <a:t>How much control do we need?</a:t>
            </a:r>
          </a:p>
          <a:p>
            <a:pPr marL="171450" indent="-171450">
              <a:buFontTx/>
              <a:buChar char="-"/>
            </a:pPr>
            <a:r>
              <a:rPr lang="en-GB" dirty="0"/>
              <a:t>Do we need to run </a:t>
            </a:r>
            <a:r>
              <a:rPr lang="en-GB" dirty="0" err="1"/>
              <a:t>adhoc</a:t>
            </a:r>
            <a:r>
              <a:rPr lang="en-GB" dirty="0"/>
              <a:t> code or scheduled jobs?</a:t>
            </a:r>
          </a:p>
          <a:p>
            <a:pPr marL="171450" indent="-171450">
              <a:buFontTx/>
              <a:buChar char="-"/>
            </a:pPr>
            <a:r>
              <a:rPr lang="en-GB" dirty="0"/>
              <a:t>Or code triggered by events?</a:t>
            </a:r>
          </a:p>
          <a:p>
            <a:pPr marL="171450" indent="-171450">
              <a:buFontTx/>
              <a:buChar char="-"/>
            </a:pPr>
            <a:r>
              <a:rPr lang="en-GB" dirty="0"/>
              <a:t>Who’s writing it? Business or IT?</a:t>
            </a:r>
          </a:p>
          <a:p>
            <a:pPr marL="171450" indent="-171450">
              <a:buFontTx/>
              <a:buChar char="-"/>
            </a:pPr>
            <a:endParaRPr lang="en-GB" dirty="0"/>
          </a:p>
          <a:p>
            <a:pPr marL="0" indent="0">
              <a:buFontTx/>
              <a:buNone/>
            </a:pPr>
            <a:r>
              <a:rPr lang="en-GB" dirty="0"/>
              <a:t>Cloud shell – great for running </a:t>
            </a:r>
            <a:r>
              <a:rPr lang="en-GB" dirty="0" err="1"/>
              <a:t>adhoc</a:t>
            </a:r>
            <a:r>
              <a:rPr lang="en-GB" dirty="0"/>
              <a:t> code from the Azure Portal</a:t>
            </a:r>
          </a:p>
          <a:p>
            <a:pPr marL="171450" indent="-171450">
              <a:buFontTx/>
              <a:buChar char="-"/>
            </a:pPr>
            <a:endParaRPr lang="en-GB" dirty="0"/>
          </a:p>
        </p:txBody>
      </p:sp>
      <p:sp>
        <p:nvSpPr>
          <p:cNvPr id="4" name="Slide Number Placeholder 3">
            <a:extLst>
              <a:ext uri="{FF2B5EF4-FFF2-40B4-BE49-F238E27FC236}">
                <a16:creationId xmlns:a16="http://schemas.microsoft.com/office/drawing/2014/main" id="{DC1BB271-B949-470C-E871-E705DECFE523}"/>
              </a:ext>
            </a:extLst>
          </p:cNvPr>
          <p:cNvSpPr>
            <a:spLocks noGrp="1"/>
          </p:cNvSpPr>
          <p:nvPr>
            <p:ph type="sldNum" sz="quarter" idx="5"/>
          </p:nvPr>
        </p:nvSpPr>
        <p:spPr/>
        <p:txBody>
          <a:bodyPr/>
          <a:lstStyle/>
          <a:p>
            <a:fld id="{A7839206-A81D-4F76-8486-302187992F73}" type="slidenum">
              <a:rPr lang="en-GB" smtClean="0"/>
              <a:t>12</a:t>
            </a:fld>
            <a:endParaRPr lang="en-GB"/>
          </a:p>
        </p:txBody>
      </p:sp>
    </p:spTree>
    <p:extLst>
      <p:ext uri="{BB962C8B-B14F-4D97-AF65-F5344CB8AC3E}">
        <p14:creationId xmlns:p14="http://schemas.microsoft.com/office/powerpoint/2010/main" val="1860869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Cloud Shell </a:t>
            </a:r>
          </a:p>
          <a:p>
            <a:r>
              <a:rPr lang="en-GB" dirty="0"/>
              <a:t>– browser-based shell</a:t>
            </a:r>
          </a:p>
          <a:p>
            <a:r>
              <a:rPr lang="en-GB" dirty="0"/>
              <a:t>- Bash or PowerShell</a:t>
            </a:r>
          </a:p>
          <a:p>
            <a:r>
              <a:rPr lang="en-GB" dirty="0"/>
              <a:t>- Az CLI and Azure PowerShell modules are preinstalled</a:t>
            </a:r>
          </a:p>
          <a:p>
            <a:pPr marL="171450" indent="-171450">
              <a:buFontTx/>
              <a:buChar char="-"/>
            </a:pPr>
            <a:r>
              <a:rPr lang="en-GB" dirty="0"/>
              <a:t>And session is pre authenticated</a:t>
            </a:r>
          </a:p>
          <a:p>
            <a:pPr marL="0" indent="0">
              <a:buFontTx/>
              <a:buNone/>
            </a:pPr>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A7839206-A81D-4F76-8486-302187992F73}" type="slidenum">
              <a:rPr lang="en-GB" smtClean="0"/>
              <a:t>13</a:t>
            </a:fld>
            <a:endParaRPr lang="en-GB"/>
          </a:p>
        </p:txBody>
      </p:sp>
    </p:spTree>
    <p:extLst>
      <p:ext uri="{BB962C8B-B14F-4D97-AF65-F5344CB8AC3E}">
        <p14:creationId xmlns:p14="http://schemas.microsoft.com/office/powerpoint/2010/main" val="16992989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0E6D0-3661-BD2E-88A8-8954FC79DC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591BB-5A96-8961-9295-BF8F67C95B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936DCC-F251-76F1-EB53-12DDF0D6A287}"/>
              </a:ext>
            </a:extLst>
          </p:cNvPr>
          <p:cNvSpPr>
            <a:spLocks noGrp="1"/>
          </p:cNvSpPr>
          <p:nvPr>
            <p:ph type="body" idx="1"/>
          </p:nvPr>
        </p:nvSpPr>
        <p:spPr/>
        <p:txBody>
          <a:bodyPr/>
          <a:lstStyle/>
          <a:p>
            <a:r>
              <a:rPr lang="en-GB" dirty="0"/>
              <a:t>Then we have our serverless offerings… </a:t>
            </a:r>
          </a:p>
          <a:p>
            <a:endParaRPr lang="en-GB" dirty="0"/>
          </a:p>
          <a:p>
            <a:r>
              <a:rPr lang="en-GB" dirty="0"/>
              <a:t>Moving away from </a:t>
            </a:r>
            <a:r>
              <a:rPr lang="en-GB" dirty="0" err="1"/>
              <a:t>adhoc</a:t>
            </a:r>
            <a:r>
              <a:rPr lang="en-GB" dirty="0"/>
              <a:t> code</a:t>
            </a:r>
          </a:p>
          <a:p>
            <a:endParaRPr lang="en-GB" dirty="0"/>
          </a:p>
          <a:p>
            <a:r>
              <a:rPr lang="en-GB" dirty="0"/>
              <a:t>These can be scheduled or triggered by events</a:t>
            </a:r>
          </a:p>
          <a:p>
            <a:endParaRPr lang="en-GB" dirty="0"/>
          </a:p>
          <a:p>
            <a:endParaRPr lang="en-GB" dirty="0"/>
          </a:p>
        </p:txBody>
      </p:sp>
      <p:sp>
        <p:nvSpPr>
          <p:cNvPr id="4" name="Slide Number Placeholder 3">
            <a:extLst>
              <a:ext uri="{FF2B5EF4-FFF2-40B4-BE49-F238E27FC236}">
                <a16:creationId xmlns:a16="http://schemas.microsoft.com/office/drawing/2014/main" id="{C03B7AF3-D684-6E03-1A25-A33AF85F2DFD}"/>
              </a:ext>
            </a:extLst>
          </p:cNvPr>
          <p:cNvSpPr>
            <a:spLocks noGrp="1"/>
          </p:cNvSpPr>
          <p:nvPr>
            <p:ph type="sldNum" sz="quarter" idx="5"/>
          </p:nvPr>
        </p:nvSpPr>
        <p:spPr/>
        <p:txBody>
          <a:bodyPr/>
          <a:lstStyle/>
          <a:p>
            <a:fld id="{A7839206-A81D-4F76-8486-302187992F73}" type="slidenum">
              <a:rPr lang="en-GB" smtClean="0"/>
              <a:t>14</a:t>
            </a:fld>
            <a:endParaRPr lang="en-GB"/>
          </a:p>
        </p:txBody>
      </p:sp>
    </p:spTree>
    <p:extLst>
      <p:ext uri="{BB962C8B-B14F-4D97-AF65-F5344CB8AC3E}">
        <p14:creationId xmlns:p14="http://schemas.microsoft.com/office/powerpoint/2010/main" val="5753491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Azure Functions</a:t>
            </a:r>
          </a:p>
          <a:p>
            <a:endParaRPr lang="en-GB" dirty="0"/>
          </a:p>
          <a:p>
            <a:r>
              <a:rPr lang="en-GB" dirty="0"/>
              <a:t>Azure Automation – our focus for today</a:t>
            </a:r>
          </a:p>
          <a:p>
            <a:endParaRPr lang="en-GB" dirty="0"/>
          </a:p>
          <a:p>
            <a:r>
              <a:rPr lang="en-GB" dirty="0"/>
              <a:t>Logic Apps</a:t>
            </a:r>
            <a:br>
              <a:rPr lang="en-GB" dirty="0"/>
            </a:br>
            <a:endParaRPr lang="en-GB" dirty="0"/>
          </a:p>
          <a:p>
            <a:r>
              <a:rPr lang="en-GB" dirty="0"/>
              <a:t>All enable us to run PowerShell in the cloud in a serverless fashion</a:t>
            </a:r>
          </a:p>
          <a:p>
            <a:endParaRPr lang="en-GB" dirty="0"/>
          </a:p>
          <a:p>
            <a:r>
              <a:rPr lang="en-GB" dirty="0"/>
              <a:t>That means no infra to worry about!</a:t>
            </a:r>
          </a:p>
          <a:p>
            <a:endParaRPr lang="en-GB" dirty="0"/>
          </a:p>
          <a:p>
            <a:r>
              <a:rPr lang="en-GB" dirty="0"/>
              <a:t>Maybe not enough control?</a:t>
            </a:r>
          </a:p>
        </p:txBody>
      </p:sp>
      <p:sp>
        <p:nvSpPr>
          <p:cNvPr id="4" name="Slide Number Placeholder 3"/>
          <p:cNvSpPr>
            <a:spLocks noGrp="1"/>
          </p:cNvSpPr>
          <p:nvPr>
            <p:ph type="sldNum" sz="quarter" idx="5"/>
          </p:nvPr>
        </p:nvSpPr>
        <p:spPr/>
        <p:txBody>
          <a:bodyPr/>
          <a:lstStyle/>
          <a:p>
            <a:fld id="{A7839206-A81D-4F76-8486-302187992F73}" type="slidenum">
              <a:rPr lang="en-GB" smtClean="0"/>
              <a:t>15</a:t>
            </a:fld>
            <a:endParaRPr lang="en-GB"/>
          </a:p>
        </p:txBody>
      </p:sp>
    </p:spTree>
    <p:extLst>
      <p:ext uri="{BB962C8B-B14F-4D97-AF65-F5344CB8AC3E}">
        <p14:creationId xmlns:p14="http://schemas.microsoft.com/office/powerpoint/2010/main" val="9974425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4DE5E-1BED-AEFA-29E6-5EB0B35258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D993DB-D3A2-08CE-A2F7-40578B835F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C88FA4-6A21-A78D-FBC0-AE9E5AE331B2}"/>
              </a:ext>
            </a:extLst>
          </p:cNvPr>
          <p:cNvSpPr>
            <a:spLocks noGrp="1"/>
          </p:cNvSpPr>
          <p:nvPr>
            <p:ph type="body" idx="1"/>
          </p:nvPr>
        </p:nvSpPr>
        <p:spPr/>
        <p:txBody>
          <a:bodyPr/>
          <a:lstStyle/>
          <a:p>
            <a:r>
              <a:rPr lang="en-GB" dirty="0"/>
              <a:t>Pricing - there are different options, but these can all be very cheap options for running code</a:t>
            </a:r>
          </a:p>
          <a:p>
            <a:endParaRPr lang="en-GB" dirty="0"/>
          </a:p>
          <a:p>
            <a:r>
              <a:rPr lang="en-GB" dirty="0"/>
              <a:t>All three are useful – but in different scenarios</a:t>
            </a:r>
          </a:p>
          <a:p>
            <a:endParaRPr lang="en-GB" dirty="0"/>
          </a:p>
          <a:p>
            <a:r>
              <a:rPr lang="en-GB" dirty="0"/>
              <a:t>It’s about choosing the right tool for the job</a:t>
            </a:r>
          </a:p>
        </p:txBody>
      </p:sp>
      <p:sp>
        <p:nvSpPr>
          <p:cNvPr id="4" name="Slide Number Placeholder 3">
            <a:extLst>
              <a:ext uri="{FF2B5EF4-FFF2-40B4-BE49-F238E27FC236}">
                <a16:creationId xmlns:a16="http://schemas.microsoft.com/office/drawing/2014/main" id="{78A074CF-837E-9046-680E-051905745FDB}"/>
              </a:ext>
            </a:extLst>
          </p:cNvPr>
          <p:cNvSpPr>
            <a:spLocks noGrp="1"/>
          </p:cNvSpPr>
          <p:nvPr>
            <p:ph type="sldNum" sz="quarter" idx="5"/>
          </p:nvPr>
        </p:nvSpPr>
        <p:spPr/>
        <p:txBody>
          <a:bodyPr/>
          <a:lstStyle/>
          <a:p>
            <a:fld id="{A7839206-A81D-4F76-8486-302187992F73}" type="slidenum">
              <a:rPr lang="en-GB" smtClean="0"/>
              <a:t>16</a:t>
            </a:fld>
            <a:endParaRPr lang="en-GB"/>
          </a:p>
        </p:txBody>
      </p:sp>
    </p:spTree>
    <p:extLst>
      <p:ext uri="{BB962C8B-B14F-4D97-AF65-F5344CB8AC3E}">
        <p14:creationId xmlns:p14="http://schemas.microsoft.com/office/powerpoint/2010/main" val="14677654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94CDC-E0E9-212F-6854-88C1B4D6E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DE090E-6BB9-87D6-D1F9-B0236CDCEA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5A35D1-62C0-7727-7AAB-26F78CB8DE5D}"/>
              </a:ext>
            </a:extLst>
          </p:cNvPr>
          <p:cNvSpPr>
            <a:spLocks noGrp="1"/>
          </p:cNvSpPr>
          <p:nvPr>
            <p:ph type="body" idx="1"/>
          </p:nvPr>
        </p:nvSpPr>
        <p:spPr/>
        <p:txBody>
          <a:bodyPr/>
          <a:lstStyle/>
          <a:p>
            <a:r>
              <a:rPr lang="en-GB" dirty="0"/>
              <a:t>There are many options available</a:t>
            </a:r>
          </a:p>
          <a:p>
            <a:r>
              <a:rPr lang="en-GB" dirty="0"/>
              <a:t>We need to decide which tool is right for the job</a:t>
            </a:r>
          </a:p>
          <a:p>
            <a:pPr marL="171450" indent="-171450">
              <a:buFontTx/>
              <a:buChar char="-"/>
            </a:pPr>
            <a:r>
              <a:rPr lang="en-GB" dirty="0"/>
              <a:t>How much control do we need?</a:t>
            </a:r>
          </a:p>
          <a:p>
            <a:pPr marL="171450" indent="-171450">
              <a:buFontTx/>
              <a:buChar char="-"/>
            </a:pPr>
            <a:r>
              <a:rPr lang="en-GB" dirty="0"/>
              <a:t>Do we need to run </a:t>
            </a:r>
            <a:r>
              <a:rPr lang="en-GB" dirty="0" err="1"/>
              <a:t>adhoc</a:t>
            </a:r>
            <a:r>
              <a:rPr lang="en-GB" dirty="0"/>
              <a:t> code or scheduled jobs?</a:t>
            </a:r>
          </a:p>
          <a:p>
            <a:pPr marL="171450" indent="-171450">
              <a:buFontTx/>
              <a:buChar char="-"/>
            </a:pPr>
            <a:endParaRPr lang="en-GB" dirty="0"/>
          </a:p>
        </p:txBody>
      </p:sp>
      <p:sp>
        <p:nvSpPr>
          <p:cNvPr id="4" name="Slide Number Placeholder 3">
            <a:extLst>
              <a:ext uri="{FF2B5EF4-FFF2-40B4-BE49-F238E27FC236}">
                <a16:creationId xmlns:a16="http://schemas.microsoft.com/office/drawing/2014/main" id="{379C5F0F-00A6-A4AD-B17C-87C570612F3F}"/>
              </a:ext>
            </a:extLst>
          </p:cNvPr>
          <p:cNvSpPr>
            <a:spLocks noGrp="1"/>
          </p:cNvSpPr>
          <p:nvPr>
            <p:ph type="sldNum" sz="quarter" idx="5"/>
          </p:nvPr>
        </p:nvSpPr>
        <p:spPr/>
        <p:txBody>
          <a:bodyPr/>
          <a:lstStyle/>
          <a:p>
            <a:fld id="{A7839206-A81D-4F76-8486-302187992F73}" type="slidenum">
              <a:rPr lang="en-GB" smtClean="0"/>
              <a:t>17</a:t>
            </a:fld>
            <a:endParaRPr lang="en-GB"/>
          </a:p>
        </p:txBody>
      </p:sp>
    </p:spTree>
    <p:extLst>
      <p:ext uri="{BB962C8B-B14F-4D97-AF65-F5344CB8AC3E}">
        <p14:creationId xmlns:p14="http://schemas.microsoft.com/office/powerpoint/2010/main" val="1667484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Azure VM</a:t>
            </a:r>
            <a:br>
              <a:rPr lang="en-GB" dirty="0"/>
            </a:br>
            <a:r>
              <a:rPr lang="en-GB" dirty="0"/>
              <a:t>AWS EC2 Instances</a:t>
            </a:r>
          </a:p>
          <a:p>
            <a:endParaRPr lang="en-GB" dirty="0"/>
          </a:p>
          <a:p>
            <a:r>
              <a:rPr lang="en-GB" dirty="0"/>
              <a:t>If you need more control than you can get with the other options</a:t>
            </a:r>
          </a:p>
          <a:p>
            <a:r>
              <a:rPr lang="en-GB" dirty="0"/>
              <a:t>You can still build a VM</a:t>
            </a:r>
          </a:p>
          <a:p>
            <a:r>
              <a:rPr lang="en-GB" dirty="0"/>
              <a:t>Could be more costly though – and now you need to be responsible for the server – patching, maintenance, security – whereas previous serverless techs take care of that.</a:t>
            </a:r>
          </a:p>
        </p:txBody>
      </p:sp>
      <p:sp>
        <p:nvSpPr>
          <p:cNvPr id="4" name="Slide Number Placeholder 3"/>
          <p:cNvSpPr>
            <a:spLocks noGrp="1"/>
          </p:cNvSpPr>
          <p:nvPr>
            <p:ph type="sldNum" sz="quarter" idx="5"/>
          </p:nvPr>
        </p:nvSpPr>
        <p:spPr/>
        <p:txBody>
          <a:bodyPr/>
          <a:lstStyle/>
          <a:p>
            <a:fld id="{A7839206-A81D-4F76-8486-302187992F73}" type="slidenum">
              <a:rPr lang="en-GB" smtClean="0"/>
              <a:t>18</a:t>
            </a:fld>
            <a:endParaRPr lang="en-GB"/>
          </a:p>
        </p:txBody>
      </p:sp>
    </p:spTree>
    <p:extLst>
      <p:ext uri="{BB962C8B-B14F-4D97-AF65-F5344CB8AC3E}">
        <p14:creationId xmlns:p14="http://schemas.microsoft.com/office/powerpoint/2010/main" val="593929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Runbooks is where our code is going</a:t>
            </a:r>
          </a:p>
          <a:p>
            <a:r>
              <a:rPr lang="en-GB" dirty="0"/>
              <a:t>We can configure runtime environments that specify the version of PowerShell &amp; which modules are installed</a:t>
            </a:r>
          </a:p>
          <a:p>
            <a:r>
              <a:rPr lang="en-GB" dirty="0"/>
              <a:t>Hybrid worker – allows you to run Azure Automation scripts on-prem, means they can have access to your on-prem resources</a:t>
            </a:r>
          </a:p>
          <a:p>
            <a:r>
              <a:rPr lang="en-GB" dirty="0"/>
              <a:t>(extension based hybrid workers – vs the old style agent based, deprecated)</a:t>
            </a:r>
          </a:p>
          <a:p>
            <a:r>
              <a:rPr lang="en-GB" dirty="0"/>
              <a:t>Variables- available to all runbooks, can have encrypted ones</a:t>
            </a:r>
          </a:p>
          <a:p>
            <a:r>
              <a:rPr lang="en-GB" dirty="0"/>
              <a:t>Source control integration – update runbooks from source control – GitHub, ADO</a:t>
            </a:r>
          </a:p>
        </p:txBody>
      </p:sp>
      <p:sp>
        <p:nvSpPr>
          <p:cNvPr id="4" name="Slide Number Placeholder 3"/>
          <p:cNvSpPr>
            <a:spLocks noGrp="1"/>
          </p:cNvSpPr>
          <p:nvPr>
            <p:ph type="sldNum" sz="quarter" idx="5"/>
          </p:nvPr>
        </p:nvSpPr>
        <p:spPr/>
        <p:txBody>
          <a:bodyPr/>
          <a:lstStyle/>
          <a:p>
            <a:fld id="{A7839206-A81D-4F76-8486-302187992F73}" type="slidenum">
              <a:rPr lang="en-GB" smtClean="0"/>
              <a:t>20</a:t>
            </a:fld>
            <a:endParaRPr lang="en-GB"/>
          </a:p>
        </p:txBody>
      </p:sp>
    </p:spTree>
    <p:extLst>
      <p:ext uri="{BB962C8B-B14F-4D97-AF65-F5344CB8AC3E}">
        <p14:creationId xmlns:p14="http://schemas.microsoft.com/office/powerpoint/2010/main" val="19725467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New way of managing modules\packages &amp; files that are available to your </a:t>
            </a:r>
            <a:r>
              <a:rPr lang="en-GB" dirty="0" err="1"/>
              <a:t>runbookes</a:t>
            </a:r>
            <a:endParaRPr lang="en-GB" dirty="0"/>
          </a:p>
          <a:p>
            <a:r>
              <a:rPr lang="en-GB" dirty="0"/>
              <a:t>System runtimes – but you can’t change those</a:t>
            </a:r>
          </a:p>
          <a:p>
            <a:endParaRPr lang="en-GB" dirty="0"/>
          </a:p>
        </p:txBody>
      </p:sp>
      <p:sp>
        <p:nvSpPr>
          <p:cNvPr id="4" name="Slide Number Placeholder 3"/>
          <p:cNvSpPr>
            <a:spLocks noGrp="1"/>
          </p:cNvSpPr>
          <p:nvPr>
            <p:ph type="sldNum" sz="quarter" idx="5"/>
          </p:nvPr>
        </p:nvSpPr>
        <p:spPr/>
        <p:txBody>
          <a:bodyPr/>
          <a:lstStyle/>
          <a:p>
            <a:fld id="{A7839206-A81D-4F76-8486-302187992F73}" type="slidenum">
              <a:rPr lang="en-GB" smtClean="0"/>
              <a:t>21</a:t>
            </a:fld>
            <a:endParaRPr lang="en-GB"/>
          </a:p>
        </p:txBody>
      </p:sp>
    </p:spTree>
    <p:extLst>
      <p:ext uri="{BB962C8B-B14F-4D97-AF65-F5344CB8AC3E}">
        <p14:creationId xmlns:p14="http://schemas.microsoft.com/office/powerpoint/2010/main" val="12975393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40E43-8F5B-3AD2-39E5-10A1A28283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26E007-FE50-09B6-609E-7723DF4B9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549084-FE77-1368-E2A0-D2E33505BBBA}"/>
              </a:ext>
            </a:extLst>
          </p:cNvPr>
          <p:cNvSpPr>
            <a:spLocks noGrp="1"/>
          </p:cNvSpPr>
          <p:nvPr>
            <p:ph type="body" idx="1"/>
          </p:nvPr>
        </p:nvSpPr>
        <p:spPr/>
        <p:txBody>
          <a:bodyPr/>
          <a:lstStyle/>
          <a:p>
            <a:r>
              <a:rPr lang="en-GB" dirty="0"/>
              <a:t>We can still move our scripts to the cloud – even if we need to access on-prem resources</a:t>
            </a:r>
          </a:p>
          <a:p>
            <a:endParaRPr lang="en-GB" dirty="0"/>
          </a:p>
        </p:txBody>
      </p:sp>
      <p:sp>
        <p:nvSpPr>
          <p:cNvPr id="4" name="Slide Number Placeholder 3">
            <a:extLst>
              <a:ext uri="{FF2B5EF4-FFF2-40B4-BE49-F238E27FC236}">
                <a16:creationId xmlns:a16="http://schemas.microsoft.com/office/drawing/2014/main" id="{11D0BB9B-028D-81C4-6508-2F3F49110EE5}"/>
              </a:ext>
            </a:extLst>
          </p:cNvPr>
          <p:cNvSpPr>
            <a:spLocks noGrp="1"/>
          </p:cNvSpPr>
          <p:nvPr>
            <p:ph type="sldNum" sz="quarter" idx="5"/>
          </p:nvPr>
        </p:nvSpPr>
        <p:spPr/>
        <p:txBody>
          <a:bodyPr/>
          <a:lstStyle/>
          <a:p>
            <a:fld id="{A7839206-A81D-4F76-8486-302187992F73}" type="slidenum">
              <a:rPr lang="en-GB" smtClean="0"/>
              <a:t>22</a:t>
            </a:fld>
            <a:endParaRPr lang="en-GB"/>
          </a:p>
        </p:txBody>
      </p:sp>
    </p:spTree>
    <p:extLst>
      <p:ext uri="{BB962C8B-B14F-4D97-AF65-F5344CB8AC3E}">
        <p14:creationId xmlns:p14="http://schemas.microsoft.com/office/powerpoint/2010/main" val="32407605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GB" dirty="0"/>
              <a:t>13 mins to here:</a:t>
            </a:r>
          </a:p>
          <a:p>
            <a:pPr marL="0" indent="0">
              <a:buFontTx/>
              <a:buNone/>
            </a:pPr>
            <a:endParaRPr lang="en-GB" dirty="0"/>
          </a:p>
          <a:p>
            <a:pPr marL="0" indent="0">
              <a:buFontTx/>
              <a:buNone/>
            </a:pPr>
            <a:r>
              <a:rPr lang="en-GB" dirty="0"/>
              <a:t>Explain the demo scenario – we’re trying to keep our azure tenant clean and tidy – looking for resources that could be removed</a:t>
            </a:r>
          </a:p>
          <a:p>
            <a:pPr marL="0" indent="0">
              <a:buFontTx/>
              <a:buNone/>
            </a:pPr>
            <a:endParaRPr lang="en-GB" dirty="0"/>
          </a:p>
          <a:p>
            <a:pPr marL="228600" indent="-228600">
              <a:buFontTx/>
              <a:buAutoNum type="arabicPeriod"/>
            </a:pPr>
            <a:endParaRPr lang="en-GB" dirty="0"/>
          </a:p>
          <a:p>
            <a:pPr marL="228600" indent="-228600">
              <a:buFontTx/>
              <a:buAutoNum type="arabicPeriod"/>
            </a:pPr>
            <a:r>
              <a:rPr lang="en-GB" dirty="0"/>
              <a:t>Creating resources in azure</a:t>
            </a:r>
          </a:p>
          <a:p>
            <a:pPr marL="228600" indent="-228600">
              <a:buFontTx/>
              <a:buAutoNum type="arabicPeriod"/>
            </a:pPr>
            <a:r>
              <a:rPr lang="en-GB" dirty="0"/>
              <a:t>Deploying our runbook</a:t>
            </a:r>
          </a:p>
          <a:p>
            <a:pPr marL="228600" indent="-228600">
              <a:buFontTx/>
              <a:buAutoNum type="arabicPeriod"/>
            </a:pPr>
            <a:endParaRPr lang="en-GB" dirty="0"/>
          </a:p>
          <a:p>
            <a:pPr marL="171450" indent="-171450">
              <a:buFontTx/>
              <a:buChar char="-"/>
            </a:pPr>
            <a:endParaRPr lang="en-GB" dirty="0"/>
          </a:p>
          <a:p>
            <a:pPr marL="171450" indent="-171450">
              <a:buFontTx/>
              <a:buChar char="-"/>
            </a:pPr>
            <a:endParaRPr lang="en-GB" dirty="0"/>
          </a:p>
          <a:p>
            <a:pPr marL="171450" indent="-171450">
              <a:buFontTx/>
              <a:buChar char="-"/>
            </a:pPr>
            <a:r>
              <a:rPr lang="en-GB" dirty="0"/>
              <a:t>Azure Automation extension in </a:t>
            </a:r>
            <a:r>
              <a:rPr lang="en-GB" dirty="0" err="1"/>
              <a:t>VSCode</a:t>
            </a:r>
            <a:endParaRPr lang="en-GB" dirty="0"/>
          </a:p>
          <a:p>
            <a:pPr marL="171450" indent="-171450">
              <a:buFontTx/>
              <a:buChar char="-"/>
            </a:pPr>
            <a:r>
              <a:rPr lang="en-GB" dirty="0"/>
              <a:t>Create runbook – ‘Azure Cleanup’</a:t>
            </a:r>
          </a:p>
          <a:p>
            <a:pPr marL="171450" indent="-171450">
              <a:buFontTx/>
              <a:buChar char="-"/>
            </a:pPr>
            <a:r>
              <a:rPr lang="en-GB" dirty="0"/>
              <a:t>Add code to look for resources to clean up (script 1.)</a:t>
            </a:r>
          </a:p>
          <a:p>
            <a:pPr marL="171450" indent="-171450">
              <a:buFontTx/>
              <a:buChar char="-"/>
            </a:pPr>
            <a:r>
              <a:rPr lang="en-GB" dirty="0"/>
              <a:t>Publish from </a:t>
            </a:r>
            <a:r>
              <a:rPr lang="en-GB" dirty="0" err="1"/>
              <a:t>vscode</a:t>
            </a:r>
            <a:endParaRPr lang="en-GB" dirty="0"/>
          </a:p>
          <a:p>
            <a:pPr marL="171450" indent="-171450">
              <a:buFontTx/>
              <a:buChar char="-"/>
            </a:pPr>
            <a:r>
              <a:rPr lang="en-GB" dirty="0"/>
              <a:t>Run from </a:t>
            </a:r>
            <a:r>
              <a:rPr lang="en-GB" dirty="0" err="1"/>
              <a:t>vscode</a:t>
            </a:r>
            <a:r>
              <a:rPr lang="en-GB" dirty="0"/>
              <a:t> – with tracked output </a:t>
            </a:r>
          </a:p>
          <a:p>
            <a:pPr marL="171450" indent="-171450">
              <a:buFontTx/>
              <a:buChar char="-"/>
            </a:pPr>
            <a:r>
              <a:rPr lang="en-GB" dirty="0"/>
              <a:t>Get permissions error – but it didn’t fail the runbook</a:t>
            </a:r>
          </a:p>
          <a:p>
            <a:pPr marL="171450" indent="-171450">
              <a:buFontTx/>
              <a:buChar char="-"/>
            </a:pPr>
            <a:endParaRPr lang="en-GB" dirty="0"/>
          </a:p>
          <a:p>
            <a:pPr marL="171450" indent="-171450">
              <a:buFontTx/>
              <a:buChar char="-"/>
            </a:pPr>
            <a:r>
              <a:rPr lang="en-GB" dirty="0"/>
              <a:t>Add try\catch and </a:t>
            </a:r>
            <a:r>
              <a:rPr lang="en-GB" dirty="0" err="1"/>
              <a:t>errorAction</a:t>
            </a:r>
            <a:r>
              <a:rPr lang="en-GB" dirty="0"/>
              <a:t> preference (script 2)</a:t>
            </a:r>
          </a:p>
          <a:p>
            <a:pPr marL="171450" indent="-171450">
              <a:buFontTx/>
              <a:buChar char="-"/>
            </a:pPr>
            <a:r>
              <a:rPr lang="en-GB" dirty="0"/>
              <a:t>Now it’s failing the runbook, and stopping when it hits the first error</a:t>
            </a:r>
          </a:p>
          <a:p>
            <a:pPr marL="171450" indent="-171450">
              <a:buFontTx/>
              <a:buChar char="-"/>
            </a:pPr>
            <a:r>
              <a:rPr lang="en-GB" dirty="0"/>
              <a:t>Let’s fix the error</a:t>
            </a:r>
          </a:p>
          <a:p>
            <a:pPr marL="171450" indent="-171450">
              <a:buFontTx/>
              <a:buChar char="-"/>
            </a:pPr>
            <a:endParaRPr lang="en-GB" dirty="0"/>
          </a:p>
          <a:p>
            <a:pPr marL="171450" indent="-171450">
              <a:buFontTx/>
              <a:buChar char="-"/>
            </a:pPr>
            <a:r>
              <a:rPr lang="en-GB" dirty="0"/>
              <a:t>We added a managed identity</a:t>
            </a:r>
          </a:p>
          <a:p>
            <a:pPr marL="628650" lvl="1" indent="-171450">
              <a:buFontTx/>
              <a:buChar char="-"/>
            </a:pPr>
            <a:r>
              <a:rPr lang="en-GB" dirty="0"/>
              <a:t>Need to give it permissions</a:t>
            </a:r>
          </a:p>
          <a:p>
            <a:pPr marL="628650" lvl="1" indent="-171450">
              <a:buFontTx/>
              <a:buChar char="-"/>
            </a:pPr>
            <a:r>
              <a:rPr lang="en-GB" dirty="0"/>
              <a:t>Go to identity page for Azure Automation</a:t>
            </a:r>
          </a:p>
          <a:p>
            <a:pPr marL="628650" lvl="1" indent="-171450">
              <a:buFontTx/>
              <a:buChar char="-"/>
            </a:pPr>
            <a:r>
              <a:rPr lang="en-GB" dirty="0"/>
              <a:t>Azure Role assignments</a:t>
            </a:r>
          </a:p>
          <a:p>
            <a:pPr marL="628650" lvl="1" indent="-171450">
              <a:buFontTx/>
              <a:buChar char="-"/>
            </a:pPr>
            <a:r>
              <a:rPr lang="en-GB" dirty="0"/>
              <a:t>Give reader to subscription – explain that permissions should be minimal – but for this task we’re looking for all kinds of things across the sub</a:t>
            </a:r>
          </a:p>
          <a:p>
            <a:pPr marL="171450" indent="-171450">
              <a:buFontTx/>
              <a:buChar char="-"/>
            </a:pPr>
            <a:r>
              <a:rPr lang="en-GB" dirty="0"/>
              <a:t>Rerun – works</a:t>
            </a:r>
          </a:p>
          <a:p>
            <a:pPr marL="628650" lvl="1" indent="-171450">
              <a:buFontTx/>
              <a:buChar char="-"/>
            </a:pPr>
            <a:r>
              <a:rPr lang="en-GB" dirty="0"/>
              <a:t>Add schedule</a:t>
            </a:r>
          </a:p>
          <a:p>
            <a:pPr marL="628650" lvl="1" indent="-171450">
              <a:buFontTx/>
              <a:buChar char="-"/>
            </a:pPr>
            <a:r>
              <a:rPr lang="en-GB" dirty="0"/>
              <a:t>Done…. But would be cool to do something with the output</a:t>
            </a:r>
          </a:p>
          <a:p>
            <a:pPr marL="171450" lvl="0" indent="-171450">
              <a:buFontTx/>
              <a:buChar char="-"/>
            </a:pPr>
            <a:r>
              <a:rPr lang="en-GB" dirty="0"/>
              <a:t>ADO</a:t>
            </a:r>
          </a:p>
          <a:p>
            <a:pPr marL="628650" lvl="1" indent="-171450">
              <a:buFontTx/>
              <a:buChar char="-"/>
            </a:pPr>
            <a:r>
              <a:rPr lang="en-GB" dirty="0">
                <a:hlinkClick r:id="rId3"/>
              </a:rPr>
              <a:t>Work items – Boards</a:t>
            </a:r>
            <a:r>
              <a:rPr lang="en-GB" dirty="0"/>
              <a:t> - https://dev.azure.com/jpomfret7/ProjectPomfret/_workitems/recentlyupdated/</a:t>
            </a:r>
          </a:p>
          <a:p>
            <a:pPr marL="628650" lvl="1" indent="-171450">
              <a:buFontTx/>
              <a:buChar char="-"/>
            </a:pPr>
            <a:r>
              <a:rPr lang="en-GB" dirty="0"/>
              <a:t>Add Managed identity to users &amp; assign permissions to create WI</a:t>
            </a:r>
          </a:p>
          <a:p>
            <a:pPr marL="628650" lvl="1" indent="-171450">
              <a:buFontTx/>
              <a:buChar char="-"/>
            </a:pPr>
            <a:r>
              <a:rPr lang="en-GB" dirty="0"/>
              <a:t>Add code to rest </a:t>
            </a:r>
            <a:r>
              <a:rPr lang="en-GB" dirty="0" err="1"/>
              <a:t>api</a:t>
            </a:r>
            <a:r>
              <a:rPr lang="en-GB" dirty="0"/>
              <a:t> call to create WI (script 3)</a:t>
            </a:r>
          </a:p>
          <a:p>
            <a:pPr marL="1085850" lvl="2" indent="-171450">
              <a:buFontTx/>
              <a:buChar char="-"/>
            </a:pPr>
            <a:r>
              <a:rPr lang="en-GB" dirty="0"/>
              <a:t>Basic info …. But ADO descriptions can be HTML (md coming soon!)</a:t>
            </a:r>
          </a:p>
          <a:p>
            <a:pPr marL="171450" lvl="0" indent="-171450">
              <a:buFontTx/>
              <a:buChar char="-"/>
            </a:pPr>
            <a:r>
              <a:rPr lang="en-GB" dirty="0"/>
              <a:t>Format body (HTML)</a:t>
            </a:r>
          </a:p>
          <a:p>
            <a:pPr marL="628650" lvl="1" indent="-171450">
              <a:buFontTx/>
              <a:buChar char="-"/>
            </a:pPr>
            <a:r>
              <a:rPr lang="en-GB" dirty="0"/>
              <a:t>Add a bunch of </a:t>
            </a:r>
            <a:r>
              <a:rPr lang="en-GB" dirty="0" err="1"/>
              <a:t>css</a:t>
            </a:r>
            <a:r>
              <a:rPr lang="en-GB" dirty="0"/>
              <a:t> and html to make it pretty (script 4)</a:t>
            </a:r>
          </a:p>
          <a:p>
            <a:pPr marL="171450" lvl="0" indent="-171450">
              <a:buFontTx/>
              <a:buChar char="-"/>
            </a:pPr>
            <a:r>
              <a:rPr lang="en-GB" dirty="0"/>
              <a:t>Makes the code pretty long and messy – move CSS to a shared variable and pull that in (script 5)</a:t>
            </a:r>
          </a:p>
          <a:p>
            <a:pPr marL="171450" lvl="0" indent="-171450">
              <a:buFontTx/>
              <a:buChar char="-"/>
            </a:pPr>
            <a:r>
              <a:rPr lang="en-GB" dirty="0"/>
              <a:t>TODO – move some of the logic into a shared function too?</a:t>
            </a:r>
          </a:p>
        </p:txBody>
      </p:sp>
      <p:sp>
        <p:nvSpPr>
          <p:cNvPr id="4" name="Slide Number Placeholder 3"/>
          <p:cNvSpPr>
            <a:spLocks noGrp="1"/>
          </p:cNvSpPr>
          <p:nvPr>
            <p:ph type="sldNum" sz="quarter" idx="5"/>
          </p:nvPr>
        </p:nvSpPr>
        <p:spPr/>
        <p:txBody>
          <a:bodyPr/>
          <a:lstStyle/>
          <a:p>
            <a:fld id="{A7839206-A81D-4F76-8486-302187992F73}" type="slidenum">
              <a:rPr lang="en-GB" smtClean="0"/>
              <a:t>24</a:t>
            </a:fld>
            <a:endParaRPr lang="en-GB"/>
          </a:p>
        </p:txBody>
      </p:sp>
    </p:spTree>
    <p:extLst>
      <p:ext uri="{BB962C8B-B14F-4D97-AF65-F5344CB8AC3E}">
        <p14:creationId xmlns:p14="http://schemas.microsoft.com/office/powerpoint/2010/main" val="11112316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Question for you</a:t>
            </a:r>
          </a:p>
          <a:p>
            <a:pPr marL="171450" indent="-171450">
              <a:buFontTx/>
              <a:buChar char="-"/>
            </a:pPr>
            <a:r>
              <a:rPr lang="en-GB" dirty="0"/>
              <a:t>What tasks can you think about automating with Azure Automation</a:t>
            </a:r>
          </a:p>
          <a:p>
            <a:pPr marL="171450" indent="-171450">
              <a:buFontTx/>
              <a:buChar char="-"/>
            </a:pPr>
            <a:r>
              <a:rPr lang="en-GB" dirty="0"/>
              <a:t>What ADO items do you have regularly occurring</a:t>
            </a:r>
          </a:p>
          <a:p>
            <a:pPr marL="171450" indent="-171450">
              <a:buFontTx/>
              <a:buChar char="-"/>
            </a:pPr>
            <a:endParaRPr lang="en-GB" dirty="0"/>
          </a:p>
          <a:p>
            <a:pPr marL="171450" indent="-171450">
              <a:buFontTx/>
              <a:buChar char="-"/>
            </a:pPr>
            <a:endParaRPr lang="en-GB" dirty="0"/>
          </a:p>
          <a:p>
            <a:pPr marL="171450" indent="-171450">
              <a:buFontTx/>
              <a:buChar char="-"/>
            </a:pPr>
            <a:endParaRPr lang="en-GB" dirty="0"/>
          </a:p>
        </p:txBody>
      </p:sp>
      <p:sp>
        <p:nvSpPr>
          <p:cNvPr id="4" name="Slide Number Placeholder 3"/>
          <p:cNvSpPr>
            <a:spLocks noGrp="1"/>
          </p:cNvSpPr>
          <p:nvPr>
            <p:ph type="sldNum" sz="quarter" idx="5"/>
          </p:nvPr>
        </p:nvSpPr>
        <p:spPr/>
        <p:txBody>
          <a:bodyPr/>
          <a:lstStyle/>
          <a:p>
            <a:fld id="{A7839206-A81D-4F76-8486-302187992F73}" type="slidenum">
              <a:rPr lang="en-GB" smtClean="0"/>
              <a:t>25</a:t>
            </a:fld>
            <a:endParaRPr lang="en-GB"/>
          </a:p>
        </p:txBody>
      </p:sp>
    </p:spTree>
    <p:extLst>
      <p:ext uri="{BB962C8B-B14F-4D97-AF65-F5344CB8AC3E}">
        <p14:creationId xmlns:p14="http://schemas.microsoft.com/office/powerpoint/2010/main" val="4215753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34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ly blue">
    <p:bg>
      <p:bgPr>
        <a:solidFill>
          <a:srgbClr val="34629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15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6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5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603374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0C1-723F-8331-7203-2AD1CA308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00EBD9-8D5A-98D4-BC92-CE5E1C75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41723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02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760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26B-2105-B752-1559-A5E7E3580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CB2030-5E24-3C76-AF6E-BEABDB29D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0EF88D-DEBE-FA6D-7C2B-49DE203B9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3025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F04B-2070-B32A-26F9-689ACEB1798E}"/>
              </a:ext>
            </a:extLst>
          </p:cNvPr>
          <p:cNvSpPr>
            <a:spLocks noGrp="1"/>
          </p:cNvSpPr>
          <p:nvPr>
            <p:ph type="title"/>
          </p:nvPr>
        </p:nvSpPr>
        <p:spPr>
          <a:xfrm>
            <a:off x="839788" y="365125"/>
            <a:ext cx="9721532"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351C8F-389D-6D1D-529E-8F7B5D2561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AB8FD-3AC0-420A-CD1A-4BB2C4DEB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2E0881B-0B39-A9CB-08B8-7FA6C0D98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CCB1-27F7-D503-AC18-183950FAE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4728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D49-1A5A-DFCF-8CA7-93B2889E2B5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019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470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FA22-F0C4-1510-0E4C-953C802C4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86368D-1D41-F3F9-3D07-85EFF2CF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83765E-1500-5380-7D29-9BED9AFAF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64134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9606-9316-A7A0-65BC-635A494F0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3637042-5D0D-C650-5659-376D12BF8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9EF090A-47F3-1576-D5A3-105EE3376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7489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B042-3840-06BB-E1DF-E9094D8198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CC1C5E-7112-083E-8A66-4B30A4DD39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73646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98170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6.xml"/><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1.pn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4.xml"/><Relationship Id="rId17" Type="http://schemas.openxmlformats.org/officeDocument/2006/relationships/image" Target="../media/image4.png"/><Relationship Id="rId2" Type="http://schemas.openxmlformats.org/officeDocument/2006/relationships/slideLayout" Target="../slideLayouts/slideLayout8.xml"/><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image" Target="../media/image6.sv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13" descr="Une image contenant texte&#10;&#10;Description générée automatiquement">
            <a:extLst>
              <a:ext uri="{FF2B5EF4-FFF2-40B4-BE49-F238E27FC236}">
                <a16:creationId xmlns:a16="http://schemas.microsoft.com/office/drawing/2014/main" id="{46B6AA1A-3151-3AC2-83FB-1C6A4D626CE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pic>
        <p:nvPicPr>
          <p:cNvPr id="3" name="Image 2">
            <a:extLst>
              <a:ext uri="{FF2B5EF4-FFF2-40B4-BE49-F238E27FC236}">
                <a16:creationId xmlns:a16="http://schemas.microsoft.com/office/drawing/2014/main" id="{E38E8CAF-D224-9556-511F-8D65E9383F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10591" y="137310"/>
            <a:ext cx="4166241" cy="1426795"/>
          </a:xfrm>
          <a:prstGeom prst="rect">
            <a:avLst/>
          </a:prstGeom>
        </p:spPr>
      </p:pic>
      <p:pic>
        <p:nvPicPr>
          <p:cNvPr id="5" name="Image 4" descr="Une image contenant Police, Graphique, graphisme, capture d’écran&#10;&#10;Description générée automatiquement">
            <a:extLst>
              <a:ext uri="{FF2B5EF4-FFF2-40B4-BE49-F238E27FC236}">
                <a16:creationId xmlns:a16="http://schemas.microsoft.com/office/drawing/2014/main" id="{4BAF5A96-834B-D12C-CB6C-63FE0247752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08900" y="6138849"/>
            <a:ext cx="2720050" cy="528285"/>
          </a:xfrm>
          <a:prstGeom prst="rect">
            <a:avLst/>
          </a:prstGeom>
        </p:spPr>
      </p:pic>
    </p:spTree>
    <p:extLst>
      <p:ext uri="{BB962C8B-B14F-4D97-AF65-F5344CB8AC3E}">
        <p14:creationId xmlns:p14="http://schemas.microsoft.com/office/powerpoint/2010/main" val="1739929472"/>
      </p:ext>
    </p:extLst>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427B60B6-58D4-7B9F-C29A-CE66AF93F596}"/>
              </a:ext>
            </a:extLst>
          </p:cNvPr>
          <p:cNvSpPr txBox="1">
            <a:spLocks/>
          </p:cNvSpPr>
          <p:nvPr userDrawn="1"/>
        </p:nvSpPr>
        <p:spPr>
          <a:xfrm>
            <a:off x="0" y="1"/>
            <a:ext cx="12192000" cy="6858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5000">
                <a:latin typeface="Stencil" panose="040409050D0802020404" pitchFamily="82" charset="0"/>
              </a:rPr>
              <a:t> </a:t>
            </a:r>
            <a:endParaRPr lang="en-DE" sz="25000">
              <a:latin typeface="Stencil" panose="040409050D0802020404" pitchFamily="82" charset="0"/>
            </a:endParaRPr>
          </a:p>
        </p:txBody>
      </p:sp>
    </p:spTree>
    <p:extLst>
      <p:ext uri="{BB962C8B-B14F-4D97-AF65-F5344CB8AC3E}">
        <p14:creationId xmlns:p14="http://schemas.microsoft.com/office/powerpoint/2010/main" val="20188776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E6A8F4F5-7628-E9E8-23A7-09169C6794F7}"/>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pic>
        <p:nvPicPr>
          <p:cNvPr id="3" name="Image 6" descr="Une image contenant texte&#10;&#10;Description générée automatiquement">
            <a:extLst>
              <a:ext uri="{FF2B5EF4-FFF2-40B4-BE49-F238E27FC236}">
                <a16:creationId xmlns:a16="http://schemas.microsoft.com/office/drawing/2014/main" id="{0EFEF5A6-FE63-3729-3BC8-5C439E7D2536}"/>
              </a:ext>
            </a:extLst>
          </p:cNvPr>
          <p:cNvPicPr/>
          <p:nvPr userDrawn="1"/>
        </p:nvPicPr>
        <p:blipFill>
          <a:blip r:embed="rId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pic>
        <p:nvPicPr>
          <p:cNvPr id="4" name="Picture 3" descr="A blue and black logo&#10;&#10;AI-generated content may be incorrect.">
            <a:extLst>
              <a:ext uri="{FF2B5EF4-FFF2-40B4-BE49-F238E27FC236}">
                <a16:creationId xmlns:a16="http://schemas.microsoft.com/office/drawing/2014/main" id="{E47D3437-6325-1541-FEA2-13192278A5C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522761" y="6426325"/>
            <a:ext cx="313451" cy="266557"/>
          </a:xfrm>
          <a:prstGeom prst="rect">
            <a:avLst/>
          </a:prstGeom>
        </p:spPr>
      </p:pic>
      <p:sp>
        <p:nvSpPr>
          <p:cNvPr id="5" name="TextBox 4">
            <a:extLst>
              <a:ext uri="{FF2B5EF4-FFF2-40B4-BE49-F238E27FC236}">
                <a16:creationId xmlns:a16="http://schemas.microsoft.com/office/drawing/2014/main" id="{B0BF1D2D-AFF1-CDB1-AAB9-C5AD2DF779ED}"/>
              </a:ext>
            </a:extLst>
          </p:cNvPr>
          <p:cNvSpPr txBox="1"/>
          <p:nvPr userDrawn="1"/>
        </p:nvSpPr>
        <p:spPr>
          <a:xfrm>
            <a:off x="8836212" y="6371471"/>
            <a:ext cx="2718613" cy="369332"/>
          </a:xfrm>
          <a:prstGeom prst="rect">
            <a:avLst/>
          </a:prstGeom>
          <a:noFill/>
        </p:spPr>
        <p:txBody>
          <a:bodyPr wrap="square">
            <a:spAutoFit/>
          </a:bodyPr>
          <a:lstStyle/>
          <a:p>
            <a:r>
              <a:rPr lang="en-GB" dirty="0"/>
              <a:t>linkedin.com/in/</a:t>
            </a:r>
            <a:r>
              <a:rPr lang="en-GB" dirty="0" err="1"/>
              <a:t>jpomfret</a:t>
            </a:r>
            <a:r>
              <a:rPr lang="en-GB" dirty="0"/>
              <a:t>/</a:t>
            </a:r>
          </a:p>
        </p:txBody>
      </p:sp>
    </p:spTree>
    <p:extLst>
      <p:ext uri="{BB962C8B-B14F-4D97-AF65-F5344CB8AC3E}">
        <p14:creationId xmlns:p14="http://schemas.microsoft.com/office/powerpoint/2010/main" val="1520531744"/>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1B01AB94-EEA2-3211-2551-34A16625A107}"/>
              </a:ext>
            </a:extLst>
          </p:cNvPr>
          <p:cNvPicPr>
            <a:picLocks noGrp="1" noRot="1" noChangeAspect="1" noMove="1" noResize="1" noEditPoints="1" noAdjustHandles="1" noChangeArrowheads="1" noChangeShapeType="1" noCrop="1"/>
          </p:cNvPicPr>
          <p:nvPr userDrawn="1"/>
        </p:nvPicPr>
        <p:blipFill>
          <a:blip r:embed="rId1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2" name="Title Placeholder 1">
            <a:extLst>
              <a:ext uri="{FF2B5EF4-FFF2-40B4-BE49-F238E27FC236}">
                <a16:creationId xmlns:a16="http://schemas.microsoft.com/office/drawing/2014/main" id="{4157010D-0C09-8FBA-F719-A4ED7C3FC593}"/>
              </a:ext>
            </a:extLst>
          </p:cNvPr>
          <p:cNvSpPr>
            <a:spLocks noGrp="1"/>
          </p:cNvSpPr>
          <p:nvPr>
            <p:ph type="title"/>
          </p:nvPr>
        </p:nvSpPr>
        <p:spPr>
          <a:xfrm>
            <a:off x="838200" y="365125"/>
            <a:ext cx="973328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C054D6-CB61-3142-2199-DDEA2FD48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Espace réservé du numéro de diapositive 5">
            <a:extLst>
              <a:ext uri="{FF2B5EF4-FFF2-40B4-BE49-F238E27FC236}">
                <a16:creationId xmlns:a16="http://schemas.microsoft.com/office/drawing/2014/main" id="{6122872C-58E4-4D8E-43AD-82C6D51A6C2A}"/>
              </a:ext>
            </a:extLst>
          </p:cNvPr>
          <p:cNvSpPr txBox="1">
            <a:spLocks/>
          </p:cNvSpPr>
          <p:nvPr userDrawn="1"/>
        </p:nvSpPr>
        <p:spPr>
          <a:xfrm>
            <a:off x="7001787" y="6335963"/>
            <a:ext cx="227396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b="1" dirty="0">
              <a:solidFill>
                <a:srgbClr val="346296"/>
              </a:solidFill>
            </a:endParaRPr>
          </a:p>
        </p:txBody>
      </p:sp>
      <p:pic>
        <p:nvPicPr>
          <p:cNvPr id="8" name="Graphique 7">
            <a:extLst>
              <a:ext uri="{FF2B5EF4-FFF2-40B4-BE49-F238E27FC236}">
                <a16:creationId xmlns:a16="http://schemas.microsoft.com/office/drawing/2014/main" id="{59BD5C5E-FB1B-A32E-1927-AB6A3C9A6664}"/>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10822738" y="196674"/>
            <a:ext cx="1062038" cy="904875"/>
          </a:xfrm>
          <a:prstGeom prst="rect">
            <a:avLst/>
          </a:prstGeom>
        </p:spPr>
      </p:pic>
      <p:pic>
        <p:nvPicPr>
          <p:cNvPr id="5" name="Image 4" descr="Une image contenant Police, Graphique, graphisme, capture d’écran&#10;&#10;Description générée automatiquement">
            <a:extLst>
              <a:ext uri="{FF2B5EF4-FFF2-40B4-BE49-F238E27FC236}">
                <a16:creationId xmlns:a16="http://schemas.microsoft.com/office/drawing/2014/main" id="{BEDCEE56-1BA9-8210-7BDF-2455F87929E9}"/>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0799716" y="1147469"/>
            <a:ext cx="1169451" cy="227129"/>
          </a:xfrm>
          <a:prstGeom prst="rect">
            <a:avLst/>
          </a:prstGeom>
        </p:spPr>
      </p:pic>
      <p:pic>
        <p:nvPicPr>
          <p:cNvPr id="6" name="Picture 5" descr="A blue and black logo&#10;&#10;AI-generated content may be incorrect.">
            <a:extLst>
              <a:ext uri="{FF2B5EF4-FFF2-40B4-BE49-F238E27FC236}">
                <a16:creationId xmlns:a16="http://schemas.microsoft.com/office/drawing/2014/main" id="{A3E8A8CF-233B-A1F4-0354-19723C024E0C}"/>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522761" y="6426325"/>
            <a:ext cx="313451" cy="266557"/>
          </a:xfrm>
          <a:prstGeom prst="rect">
            <a:avLst/>
          </a:prstGeom>
        </p:spPr>
      </p:pic>
      <p:sp>
        <p:nvSpPr>
          <p:cNvPr id="14" name="TextBox 13">
            <a:extLst>
              <a:ext uri="{FF2B5EF4-FFF2-40B4-BE49-F238E27FC236}">
                <a16:creationId xmlns:a16="http://schemas.microsoft.com/office/drawing/2014/main" id="{7152C42B-808F-EC2B-8FA1-53C0D5579A86}"/>
              </a:ext>
            </a:extLst>
          </p:cNvPr>
          <p:cNvSpPr txBox="1"/>
          <p:nvPr userDrawn="1"/>
        </p:nvSpPr>
        <p:spPr>
          <a:xfrm>
            <a:off x="8836212" y="6371471"/>
            <a:ext cx="2718613" cy="369332"/>
          </a:xfrm>
          <a:prstGeom prst="rect">
            <a:avLst/>
          </a:prstGeom>
          <a:noFill/>
        </p:spPr>
        <p:txBody>
          <a:bodyPr wrap="square">
            <a:spAutoFit/>
          </a:bodyPr>
          <a:lstStyle/>
          <a:p>
            <a:r>
              <a:rPr lang="en-GB" dirty="0"/>
              <a:t>linkedin.com/in/</a:t>
            </a:r>
            <a:r>
              <a:rPr lang="en-GB" dirty="0" err="1"/>
              <a:t>jpomfret</a:t>
            </a:r>
            <a:r>
              <a:rPr lang="en-GB" dirty="0"/>
              <a:t>/</a:t>
            </a:r>
          </a:p>
        </p:txBody>
      </p:sp>
    </p:spTree>
    <p:extLst>
      <p:ext uri="{BB962C8B-B14F-4D97-AF65-F5344CB8AC3E}">
        <p14:creationId xmlns:p14="http://schemas.microsoft.com/office/powerpoint/2010/main" val="25776997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702" r:id="rId11"/>
  </p:sldLayoutIdLst>
  <p:txStyles>
    <p:title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mailto:jpomfret7@gmail.com" TargetMode="Externa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notesSlide" Target="../notesSlides/notesSlide8.xml"/><Relationship Id="rId16" Type="http://schemas.openxmlformats.org/officeDocument/2006/relationships/image" Target="../media/image28.svg"/><Relationship Id="rId1" Type="http://schemas.openxmlformats.org/officeDocument/2006/relationships/slideLayout" Target="../slideLayouts/slideLayout12.xml"/><Relationship Id="rId6" Type="http://schemas.openxmlformats.org/officeDocument/2006/relationships/image" Target="../media/image18.sv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 Id="rId14" Type="http://schemas.openxmlformats.org/officeDocument/2006/relationships/image" Target="../media/image26.sv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4.png"/><Relationship Id="rId7"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29.png"/><Relationship Id="rId4" Type="http://schemas.openxmlformats.org/officeDocument/2006/relationships/image" Target="../media/image35.sv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35.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mailto:psconfeu@synedgy.com" TargetMode="External"/><Relationship Id="rId1" Type="http://schemas.openxmlformats.org/officeDocument/2006/relationships/slideLayout" Target="../slideLayouts/slideLayout8.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A13D084F-E8FE-14E3-7A60-1AB8B95A44C2}"/>
              </a:ext>
            </a:extLst>
          </p:cNvPr>
          <p:cNvSpPr txBox="1"/>
          <p:nvPr/>
        </p:nvSpPr>
        <p:spPr>
          <a:xfrm>
            <a:off x="1046162" y="1057275"/>
            <a:ext cx="4892675" cy="5626605"/>
          </a:xfrm>
          <a:prstGeom prst="rect">
            <a:avLst/>
          </a:prstGeom>
          <a:noFill/>
        </p:spPr>
        <p:txBody>
          <a:bodyPr wrap="square" rtlCol="0">
            <a:spAutoFit/>
          </a:bodyPr>
          <a:lstStyle/>
          <a:p>
            <a:pPr>
              <a:lnSpc>
                <a:spcPct val="110000"/>
              </a:lnSpc>
            </a:pPr>
            <a:r>
              <a:rPr lang="en-US" sz="1600" dirty="0"/>
              <a:t>Dear Speaker, we are thrilled and honored to have you with us in Malmö in 2025. Take your time and read this before you prepare your session. </a:t>
            </a:r>
          </a:p>
          <a:p>
            <a:pPr>
              <a:lnSpc>
                <a:spcPct val="110000"/>
              </a:lnSpc>
            </a:pPr>
            <a:endParaRPr lang="en-US" sz="1600" dirty="0"/>
          </a:p>
          <a:p>
            <a:pPr>
              <a:lnSpc>
                <a:spcPct val="110000"/>
              </a:lnSpc>
              <a:spcAft>
                <a:spcPts val="1000"/>
              </a:spcAft>
            </a:pPr>
            <a:r>
              <a:rPr lang="en-US" sz="1600" dirty="0"/>
              <a:t>Since most of you have been with us before, you will already know a lot about </a:t>
            </a:r>
            <a:r>
              <a:rPr lang="en-US" sz="1600" dirty="0" err="1"/>
              <a:t>PSConfEU</a:t>
            </a:r>
            <a:r>
              <a:rPr lang="en-US" sz="1600" dirty="0"/>
              <a:t>. You know that we try to capture all sessions carefully and publish your work on YouTube. </a:t>
            </a:r>
            <a:r>
              <a:rPr lang="en-US" sz="1600" b="1" u="sng" dirty="0"/>
              <a:t>There are a few easily avoidable stumbling blocks that we would like to draw your attention to: </a:t>
            </a:r>
          </a:p>
          <a:p>
            <a:pPr marL="285750" indent="-285750">
              <a:lnSpc>
                <a:spcPct val="110000"/>
              </a:lnSpc>
              <a:buClr>
                <a:srgbClr val="C00000"/>
              </a:buClr>
              <a:buFont typeface="Arial" panose="020B0604020202020204" pitchFamily="34" charset="0"/>
              <a:buChar char="•"/>
            </a:pPr>
            <a:r>
              <a:rPr lang="en-US" sz="1600" dirty="0"/>
              <a:t>Your screen resolution should be</a:t>
            </a:r>
            <a:br>
              <a:rPr lang="en-US" sz="1600" dirty="0"/>
            </a:br>
            <a:r>
              <a:rPr lang="en-US" sz="1600" dirty="0"/>
              <a:t>1920x1080 </a:t>
            </a:r>
            <a:r>
              <a:rPr lang="en-US" sz="1600" dirty="0" err="1"/>
              <a:t>px</a:t>
            </a:r>
            <a:r>
              <a:rPr lang="en-US" sz="1600" dirty="0"/>
              <a:t> (</a:t>
            </a:r>
            <a:r>
              <a:rPr lang="en-US" sz="1600" dirty="0" err="1"/>
              <a:t>FullHD</a:t>
            </a:r>
            <a:r>
              <a:rPr lang="en-US" sz="1600" dirty="0"/>
              <a:t>)</a:t>
            </a:r>
          </a:p>
          <a:p>
            <a:pPr marL="285750" indent="-285750">
              <a:lnSpc>
                <a:spcPct val="110000"/>
              </a:lnSpc>
              <a:buClr>
                <a:srgbClr val="C00000"/>
              </a:buClr>
              <a:buFont typeface="Arial" panose="020B0604020202020204" pitchFamily="34" charset="0"/>
              <a:buChar char="•"/>
            </a:pPr>
            <a:r>
              <a:rPr lang="en-US" sz="1600" dirty="0"/>
              <a:t>You should provide a full size HDMI socket</a:t>
            </a:r>
          </a:p>
          <a:p>
            <a:pPr marL="285750" indent="-285750">
              <a:lnSpc>
                <a:spcPct val="110000"/>
              </a:lnSpc>
              <a:buClr>
                <a:srgbClr val="C00000"/>
              </a:buClr>
              <a:buFont typeface="Arial" panose="020B0604020202020204" pitchFamily="34" charset="0"/>
              <a:buChar char="•"/>
            </a:pPr>
            <a:r>
              <a:rPr lang="en-US" sz="1600" dirty="0"/>
              <a:t>Mirror your screen</a:t>
            </a:r>
          </a:p>
          <a:p>
            <a:pPr marL="285750" indent="-285750">
              <a:lnSpc>
                <a:spcPct val="110000"/>
              </a:lnSpc>
              <a:buClr>
                <a:srgbClr val="C00000"/>
              </a:buClr>
              <a:buFont typeface="Arial" panose="020B0604020202020204" pitchFamily="34" charset="0"/>
              <a:buChar char="•"/>
            </a:pPr>
            <a:r>
              <a:rPr lang="en-US" sz="1600" dirty="0"/>
              <a:t>Disable "Presenter View" in PowerPoint</a:t>
            </a:r>
          </a:p>
          <a:p>
            <a:pPr marL="285750" indent="-285750">
              <a:lnSpc>
                <a:spcPct val="110000"/>
              </a:lnSpc>
              <a:buClr>
                <a:srgbClr val="C00000"/>
              </a:buClr>
              <a:buFont typeface="Arial" panose="020B0604020202020204" pitchFamily="34" charset="0"/>
              <a:buChar char="•"/>
            </a:pPr>
            <a:r>
              <a:rPr lang="en-US" sz="1600" dirty="0"/>
              <a:t>Using MAC or Surface book? </a:t>
            </a:r>
            <a:br>
              <a:rPr lang="en-US" sz="1600" dirty="0"/>
            </a:br>
            <a:r>
              <a:rPr lang="en-US" sz="1600" dirty="0"/>
              <a:t>Be aware of HDCP!</a:t>
            </a:r>
          </a:p>
          <a:p>
            <a:pPr marL="285750" indent="-285750">
              <a:lnSpc>
                <a:spcPct val="110000"/>
              </a:lnSpc>
              <a:buClr>
                <a:srgbClr val="C00000"/>
              </a:buClr>
              <a:buFont typeface="Arial" panose="020B0604020202020204" pitchFamily="34" charset="0"/>
              <a:buChar char="•"/>
            </a:pPr>
            <a:r>
              <a:rPr lang="en-US" sz="1600" dirty="0"/>
              <a:t>Disable the ‘Night Light Mode’</a:t>
            </a:r>
          </a:p>
          <a:p>
            <a:pPr marL="285750" indent="-285750">
              <a:lnSpc>
                <a:spcPct val="110000"/>
              </a:lnSpc>
              <a:buFont typeface="Arial" panose="020B0604020202020204" pitchFamily="34" charset="0"/>
              <a:buChar char="•"/>
            </a:pPr>
            <a:endParaRPr lang="en-US" sz="1600" dirty="0"/>
          </a:p>
          <a:p>
            <a:pPr>
              <a:lnSpc>
                <a:spcPct val="110000"/>
              </a:lnSpc>
            </a:pPr>
            <a:endParaRPr lang="en-US" sz="1600" dirty="0"/>
          </a:p>
        </p:txBody>
      </p:sp>
      <p:sp>
        <p:nvSpPr>
          <p:cNvPr id="4" name="Rechteck 3">
            <a:extLst>
              <a:ext uri="{FF2B5EF4-FFF2-40B4-BE49-F238E27FC236}">
                <a16:creationId xmlns:a16="http://schemas.microsoft.com/office/drawing/2014/main" id="{CBA44082-0847-F389-B219-CBA49C7725C2}"/>
              </a:ext>
            </a:extLst>
          </p:cNvPr>
          <p:cNvSpPr/>
          <p:nvPr/>
        </p:nvSpPr>
        <p:spPr>
          <a:xfrm>
            <a:off x="0" y="0"/>
            <a:ext cx="889000" cy="6858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4400">
                <a:latin typeface="Calibri" panose="020F0502020204030204" pitchFamily="34" charset="0"/>
                <a:ea typeface="Calibri" panose="020F0502020204030204" pitchFamily="34" charset="0"/>
                <a:cs typeface="Calibri" panose="020F0502020204030204" pitchFamily="34" charset="0"/>
              </a:rPr>
              <a:t>BURN AFTER READING</a:t>
            </a:r>
            <a:endParaRPr lang="en-DE" sz="4400">
              <a:latin typeface="Calibri" panose="020F0502020204030204" pitchFamily="34" charset="0"/>
              <a:ea typeface="Calibri" panose="020F0502020204030204" pitchFamily="34" charset="0"/>
              <a:cs typeface="Calibri" panose="020F0502020204030204" pitchFamily="34" charset="0"/>
            </a:endParaRPr>
          </a:p>
        </p:txBody>
      </p:sp>
      <p:sp>
        <p:nvSpPr>
          <p:cNvPr id="2" name="Textfeld 1">
            <a:extLst>
              <a:ext uri="{FF2B5EF4-FFF2-40B4-BE49-F238E27FC236}">
                <a16:creationId xmlns:a16="http://schemas.microsoft.com/office/drawing/2014/main" id="{A196BBFD-A430-8F6F-DBB7-52C55DB3DA2F}"/>
              </a:ext>
            </a:extLst>
          </p:cNvPr>
          <p:cNvSpPr txBox="1"/>
          <p:nvPr/>
        </p:nvSpPr>
        <p:spPr>
          <a:xfrm>
            <a:off x="5938836" y="663834"/>
            <a:ext cx="5972175" cy="6000040"/>
          </a:xfrm>
          <a:prstGeom prst="rect">
            <a:avLst/>
          </a:prstGeom>
          <a:noFill/>
        </p:spPr>
        <p:txBody>
          <a:bodyPr wrap="square" rtlCol="0">
            <a:spAutoFit/>
          </a:bodyPr>
          <a:lstStyle/>
          <a:p>
            <a:pPr>
              <a:lnSpc>
                <a:spcPct val="110000"/>
              </a:lnSpc>
              <a:spcAft>
                <a:spcPts val="800"/>
              </a:spcAft>
            </a:pPr>
            <a:r>
              <a:rPr lang="en-US" sz="1600" b="1" dirty="0" err="1">
                <a:highlight>
                  <a:srgbClr val="00FF00"/>
                </a:highlight>
              </a:rPr>
              <a:t>about_SlideDeck</a:t>
            </a:r>
            <a:endParaRPr lang="en-US" sz="1600" b="1" dirty="0">
              <a:highlight>
                <a:srgbClr val="00FF00"/>
              </a:highlight>
            </a:endParaRPr>
          </a:p>
          <a:p>
            <a:pPr>
              <a:lnSpc>
                <a:spcPct val="110000"/>
              </a:lnSpc>
            </a:pPr>
            <a:r>
              <a:rPr lang="en-US" sz="1600" dirty="0"/>
              <a:t>The actual presentation starts with slide 6 ("Session title"). The first five slides have a purely </a:t>
            </a:r>
            <a:r>
              <a:rPr lang="en-US" sz="1600" dirty="0" err="1"/>
              <a:t>organisational</a:t>
            </a:r>
            <a:r>
              <a:rPr lang="en-US" sz="1600" dirty="0"/>
              <a:t> purpose. During the break before your session, you should start the presentation with slide 2 ("Next up"), so that the audience knows that they are in the right room. It's fine if you start chatting with the audience during this break, </a:t>
            </a:r>
            <a:r>
              <a:rPr lang="en-US" sz="1600" b="1" dirty="0"/>
              <a:t>but</a:t>
            </a:r>
            <a:r>
              <a:rPr lang="en-US" sz="1600" dirty="0"/>
              <a:t> </a:t>
            </a:r>
            <a:r>
              <a:rPr lang="en-US" sz="1600" b="1" dirty="0"/>
              <a:t>we need a precise starting point for your presentation </a:t>
            </a:r>
            <a:r>
              <a:rPr lang="en-US" sz="1600" dirty="0"/>
              <a:t>in terms of editing your video. That means: </a:t>
            </a:r>
          </a:p>
          <a:p>
            <a:pPr>
              <a:lnSpc>
                <a:spcPct val="110000"/>
              </a:lnSpc>
            </a:pPr>
            <a:r>
              <a:rPr lang="en-US" sz="1600" dirty="0"/>
              <a:t>The recording of your presentation will start after the countdown. </a:t>
            </a:r>
            <a:r>
              <a:rPr lang="en-US" sz="1600" b="1" dirty="0"/>
              <a:t>Please  (RE)START talking after the countdown</a:t>
            </a:r>
            <a:r>
              <a:rPr lang="en-US" sz="1600" dirty="0"/>
              <a:t>, not during it! Otherwise your recording will start with a half sentence.  </a:t>
            </a:r>
          </a:p>
          <a:p>
            <a:pPr>
              <a:lnSpc>
                <a:spcPct val="110000"/>
              </a:lnSpc>
            </a:pPr>
            <a:r>
              <a:rPr lang="en-US" sz="1600" dirty="0"/>
              <a:t>It is not necessary to explicitly signal to the PA operator, this is your signal! </a:t>
            </a:r>
          </a:p>
          <a:p>
            <a:pPr>
              <a:lnSpc>
                <a:spcPct val="110000"/>
              </a:lnSpc>
            </a:pPr>
            <a:endParaRPr lang="en-US" sz="1600" dirty="0"/>
          </a:p>
          <a:p>
            <a:pPr>
              <a:lnSpc>
                <a:spcPct val="110000"/>
              </a:lnSpc>
            </a:pPr>
            <a:r>
              <a:rPr lang="en-US" sz="1600" dirty="0"/>
              <a:t>Finally, do you have to use this slide deck? </a:t>
            </a:r>
            <a:br>
              <a:rPr lang="en-US" sz="1600" dirty="0"/>
            </a:br>
            <a:r>
              <a:rPr lang="en-US" sz="1600" dirty="0"/>
              <a:t>No, you are free to present the way you like it. But you are asked </a:t>
            </a:r>
            <a:br>
              <a:rPr lang="en-US" sz="1600" dirty="0"/>
            </a:br>
            <a:r>
              <a:rPr lang="en-US" sz="1600" dirty="0"/>
              <a:t>to use the intro slides: countdown, session title, sponsor slide.</a:t>
            </a:r>
            <a:br>
              <a:rPr lang="en-US" sz="1600" dirty="0"/>
            </a:br>
            <a:r>
              <a:rPr lang="en-US" sz="1600" dirty="0"/>
              <a:t>Beyond that, use what is good for the cause – from no slides to sketches from your children, from </a:t>
            </a:r>
            <a:r>
              <a:rPr lang="en-US" sz="1600" dirty="0" err="1"/>
              <a:t>Jupyter</a:t>
            </a:r>
            <a:r>
              <a:rPr lang="en-US" sz="1600" dirty="0"/>
              <a:t> to $</a:t>
            </a:r>
            <a:r>
              <a:rPr lang="en-US" sz="1600" dirty="0" err="1"/>
              <a:t>youNameIt</a:t>
            </a:r>
            <a:r>
              <a:rPr lang="en-US" sz="1600" dirty="0"/>
              <a:t>. </a:t>
            </a:r>
          </a:p>
          <a:p>
            <a:pPr>
              <a:lnSpc>
                <a:spcPct val="110000"/>
              </a:lnSpc>
              <a:spcAft>
                <a:spcPts val="1000"/>
              </a:spcAft>
            </a:pPr>
            <a:r>
              <a:rPr lang="en-US" sz="1600" dirty="0"/>
              <a:t>You will find additional information in the notes below.</a:t>
            </a:r>
          </a:p>
          <a:p>
            <a:pPr>
              <a:lnSpc>
                <a:spcPct val="110000"/>
              </a:lnSpc>
            </a:pPr>
            <a:r>
              <a:rPr lang="en-US" sz="1600" i="1" dirty="0"/>
              <a:t>Sincerely, your hosts!</a:t>
            </a:r>
          </a:p>
        </p:txBody>
      </p:sp>
      <p:sp>
        <p:nvSpPr>
          <p:cNvPr id="5" name="Titel 4">
            <a:extLst>
              <a:ext uri="{FF2B5EF4-FFF2-40B4-BE49-F238E27FC236}">
                <a16:creationId xmlns:a16="http://schemas.microsoft.com/office/drawing/2014/main" id="{E2CFEAF8-3999-F242-E154-0BD39B8675DC}"/>
              </a:ext>
            </a:extLst>
          </p:cNvPr>
          <p:cNvSpPr>
            <a:spLocks noGrp="1"/>
          </p:cNvSpPr>
          <p:nvPr>
            <p:ph type="title" idx="4294967295"/>
          </p:nvPr>
        </p:nvSpPr>
        <p:spPr>
          <a:xfrm>
            <a:off x="1046161" y="66675"/>
            <a:ext cx="4892675" cy="662782"/>
          </a:xfrm>
          <a:prstGeom prst="rect">
            <a:avLst/>
          </a:prstGeom>
        </p:spPr>
        <p:txBody>
          <a:bodyPr/>
          <a:lstStyle/>
          <a:p>
            <a:r>
              <a:rPr lang="en-DE" sz="4200">
                <a:latin typeface="Calibri" panose="020F0502020204030204" pitchFamily="34" charset="0"/>
                <a:ea typeface="Calibri" panose="020F0502020204030204" pitchFamily="34" charset="0"/>
                <a:cs typeface="Calibri" panose="020F0502020204030204" pitchFamily="34" charset="0"/>
              </a:rPr>
              <a:t>R</a:t>
            </a:r>
            <a:r>
              <a:rPr lang="en-US" sz="4200">
                <a:latin typeface="Calibri" panose="020F0502020204030204" pitchFamily="34" charset="0"/>
                <a:ea typeface="Calibri" panose="020F0502020204030204" pitchFamily="34" charset="0"/>
                <a:cs typeface="Calibri" panose="020F0502020204030204" pitchFamily="34" charset="0"/>
              </a:rPr>
              <a:t>EADME</a:t>
            </a:r>
            <a:endParaRPr lang="en-DE" sz="42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31095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512BD2B3-5213-AE89-B245-3E2067844782}"/>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dirty="0">
                <a:latin typeface="Segoe UI" panose="020B0502040204020203" pitchFamily="34" charset="0"/>
                <a:cs typeface="Segoe UI" panose="020B0502040204020203" pitchFamily="34" charset="0"/>
              </a:rPr>
              <a:t>Jess Pomfret</a:t>
            </a:r>
            <a:endParaRPr lang="en-GB" b="1" i="1" dirty="0">
              <a:latin typeface="Segoe UI" panose="020B0502040204020203" pitchFamily="34" charset="0"/>
              <a:cs typeface="Segoe UI" panose="020B0502040204020203" pitchFamily="34" charset="0"/>
            </a:endParaRPr>
          </a:p>
        </p:txBody>
      </p:sp>
      <p:cxnSp>
        <p:nvCxnSpPr>
          <p:cNvPr id="4" name="Connecteur droit 5">
            <a:extLst>
              <a:ext uri="{FF2B5EF4-FFF2-40B4-BE49-F238E27FC236}">
                <a16:creationId xmlns:a16="http://schemas.microsoft.com/office/drawing/2014/main" id="{E9631884-5100-1BA8-2365-47609B2977D7}"/>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5" name="Titel 4">
            <a:extLst>
              <a:ext uri="{FF2B5EF4-FFF2-40B4-BE49-F238E27FC236}">
                <a16:creationId xmlns:a16="http://schemas.microsoft.com/office/drawing/2014/main" id="{EC34FE26-AFCF-2A09-DB2E-84FFA4D454A5}"/>
              </a:ext>
            </a:extLst>
          </p:cNvPr>
          <p:cNvSpPr>
            <a:spLocks noGrp="1"/>
          </p:cNvSpPr>
          <p:nvPr>
            <p:ph type="title" idx="4294967295"/>
          </p:nvPr>
        </p:nvSpPr>
        <p:spPr>
          <a:xfrm>
            <a:off x="863600" y="2672840"/>
            <a:ext cx="10515600" cy="1325563"/>
          </a:xfrm>
          <a:prstGeom prst="rect">
            <a:avLst/>
          </a:prstGeom>
        </p:spPr>
        <p:txBody>
          <a:bodyPr anchor="b" anchorCtr="0"/>
          <a:lstStyle/>
          <a:p>
            <a:pPr algn="ctr"/>
            <a:r>
              <a:rPr lang="en-DE" sz="6000" b="1" dirty="0">
                <a:solidFill>
                  <a:srgbClr val="346296"/>
                </a:solidFill>
                <a:latin typeface="Segoe UI Light" panose="020B0502040204020203" pitchFamily="34" charset="0"/>
                <a:cs typeface="Segoe UI Light" panose="020B0502040204020203" pitchFamily="34" charset="0"/>
              </a:rPr>
              <a:t>N</a:t>
            </a:r>
            <a:r>
              <a:rPr lang="en-US" sz="6000" b="1" dirty="0" err="1">
                <a:solidFill>
                  <a:srgbClr val="346296"/>
                </a:solidFill>
                <a:latin typeface="Segoe UI Light" panose="020B0502040204020203" pitchFamily="34" charset="0"/>
                <a:cs typeface="Segoe UI Light" panose="020B0502040204020203" pitchFamily="34" charset="0"/>
              </a:rPr>
              <a:t>ext</a:t>
            </a:r>
            <a:r>
              <a:rPr lang="en-US" sz="6000" b="1" dirty="0">
                <a:solidFill>
                  <a:srgbClr val="346296"/>
                </a:solidFill>
                <a:latin typeface="Segoe UI Light" panose="020B0502040204020203" pitchFamily="34" charset="0"/>
                <a:cs typeface="Segoe UI Light" panose="020B0502040204020203" pitchFamily="34" charset="0"/>
              </a:rPr>
              <a:t> Up:</a:t>
            </a:r>
            <a:endParaRPr lang="en-DE" sz="6000" b="1" dirty="0">
              <a:solidFill>
                <a:srgbClr val="346296"/>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315886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82643D59-896E-68AE-5BCA-3F8558F198EF}"/>
              </a:ext>
            </a:extLst>
          </p:cNvPr>
          <p:cNvSpPr txBox="1">
            <a:spLocks/>
          </p:cNvSpPr>
          <p:nvPr/>
        </p:nvSpPr>
        <p:spPr>
          <a:xfrm>
            <a:off x="838200" y="365125"/>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a:t>3</a:t>
            </a:r>
            <a:endParaRPr lang="en-GB"/>
          </a:p>
        </p:txBody>
      </p:sp>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3</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2970004164"/>
      </p:ext>
    </p:extLst>
  </p:cSld>
  <p:clrMapOvr>
    <a:masterClrMapping/>
  </p:clrMapOvr>
  <p:transition spd="slow" advTm="100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solidFill>
                  <a:schemeClr val="bg1"/>
                </a:solidFill>
                <a:latin typeface="Stencil" panose="040409050D0802020404" pitchFamily="82" charset="0"/>
              </a:rPr>
              <a:t>2</a:t>
            </a:r>
            <a:endParaRPr lang="en-DE" sz="25000">
              <a:solidFill>
                <a:schemeClr val="bg1"/>
              </a:solidFill>
              <a:latin typeface="Stencil" panose="040409050D0802020404" pitchFamily="82" charset="0"/>
            </a:endParaRPr>
          </a:p>
        </p:txBody>
      </p:sp>
    </p:spTree>
    <p:extLst>
      <p:ext uri="{BB962C8B-B14F-4D97-AF65-F5344CB8AC3E}">
        <p14:creationId xmlns:p14="http://schemas.microsoft.com/office/powerpoint/2010/main" val="986012733"/>
      </p:ext>
    </p:extLst>
  </p:cSld>
  <p:clrMapOvr>
    <a:masterClrMapping/>
  </p:clrMapOvr>
  <p:transition spd="slow" advTm="100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a:latin typeface="Stencil" panose="040409050D0802020404" pitchFamily="82" charset="0"/>
              </a:rPr>
              <a:t>1</a:t>
            </a:r>
            <a:endParaRPr lang="en-DE" sz="25000">
              <a:latin typeface="Stencil" panose="040409050D0802020404" pitchFamily="82" charset="0"/>
            </a:endParaRPr>
          </a:p>
        </p:txBody>
      </p:sp>
    </p:spTree>
    <p:extLst>
      <p:ext uri="{BB962C8B-B14F-4D97-AF65-F5344CB8AC3E}">
        <p14:creationId xmlns:p14="http://schemas.microsoft.com/office/powerpoint/2010/main" val="73231530"/>
      </p:ext>
    </p:extLst>
  </p:cSld>
  <p:clrMapOvr>
    <a:masterClrMapping/>
  </p:clrMapOvr>
  <p:transition spd="slow" advTm="100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FB22B504-146E-1966-17CE-BB797BC6083D}"/>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b="1" i="1" dirty="0"/>
              <a:t>Jess Pomfret</a:t>
            </a:r>
            <a:endParaRPr lang="en-GB" b="1" i="1" dirty="0"/>
          </a:p>
        </p:txBody>
      </p:sp>
      <p:cxnSp>
        <p:nvCxnSpPr>
          <p:cNvPr id="6" name="Connecteur droit 5">
            <a:extLst>
              <a:ext uri="{FF2B5EF4-FFF2-40B4-BE49-F238E27FC236}">
                <a16:creationId xmlns:a16="http://schemas.microsoft.com/office/drawing/2014/main" id="{A169C0FB-08C4-E3EC-573C-91852880EBAA}"/>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0E2348EB-2258-5792-670F-322202E630B4}"/>
              </a:ext>
            </a:extLst>
          </p:cNvPr>
          <p:cNvSpPr>
            <a:spLocks noGrp="1"/>
          </p:cNvSpPr>
          <p:nvPr>
            <p:ph type="title" idx="4294967295"/>
          </p:nvPr>
        </p:nvSpPr>
        <p:spPr>
          <a:xfrm>
            <a:off x="838200" y="2666707"/>
            <a:ext cx="10515600" cy="1325563"/>
          </a:xfrm>
          <a:prstGeom prst="rect">
            <a:avLst/>
          </a:prstGeom>
        </p:spPr>
        <p:txBody>
          <a:bodyPr anchor="b" anchorCtr="0"/>
          <a:lstStyle/>
          <a:p>
            <a:pPr algn="ctr"/>
            <a:r>
              <a:rPr lang="en-GB" sz="6000" b="1" dirty="0">
                <a:solidFill>
                  <a:srgbClr val="346296"/>
                </a:solidFill>
                <a:latin typeface="+mn-lt"/>
              </a:rPr>
              <a:t>Unleashing PowerShell in the Cloud with Azure Automation</a:t>
            </a:r>
            <a:endParaRPr lang="en-DE" sz="6000" b="1" dirty="0">
              <a:solidFill>
                <a:srgbClr val="346296"/>
              </a:solidFill>
              <a:latin typeface="+mn-lt"/>
            </a:endParaRPr>
          </a:p>
        </p:txBody>
      </p:sp>
    </p:spTree>
    <p:extLst>
      <p:ext uri="{BB962C8B-B14F-4D97-AF65-F5344CB8AC3E}">
        <p14:creationId xmlns:p14="http://schemas.microsoft.com/office/powerpoint/2010/main" val="2193816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531CB4D-40EE-4CEA-4C1F-A86C158A8A50}"/>
              </a:ext>
            </a:extLst>
          </p:cNvPr>
          <p:cNvSpPr>
            <a:spLocks noGrp="1"/>
          </p:cNvSpPr>
          <p:nvPr>
            <p:ph type="title" idx="4294967295"/>
          </p:nvPr>
        </p:nvSpPr>
        <p:spPr>
          <a:xfrm>
            <a:off x="1009061" y="630961"/>
            <a:ext cx="9733280" cy="1325563"/>
          </a:xfrm>
        </p:spPr>
        <p:txBody>
          <a:bodyPr/>
          <a:lstStyle/>
          <a:p>
            <a:pPr rtl="0" eaLnBrk="1" latinLnBrk="0" hangingPunct="1"/>
            <a:r>
              <a:rPr lang="fr-FR" sz="4000" b="1" kern="1200">
                <a:solidFill>
                  <a:srgbClr val="346296"/>
                </a:solidFill>
                <a:effectLst/>
                <a:latin typeface="Calibri" panose="020F0502020204030204" pitchFamily="34" charset="0"/>
                <a:ea typeface="+mn-ea"/>
                <a:cs typeface="+mn-cs"/>
              </a:rPr>
              <a:t>Many thanks to our sponsors:</a:t>
            </a:r>
            <a:endParaRPr lang="en-DE"/>
          </a:p>
        </p:txBody>
      </p:sp>
      <p:pic>
        <p:nvPicPr>
          <p:cNvPr id="6" name="Image 5" descr="Une image contenant texte, Police, capture d’écran, logo&#10;&#10;Le contenu généré par l’IA peut être incorrect.">
            <a:extLst>
              <a:ext uri="{FF2B5EF4-FFF2-40B4-BE49-F238E27FC236}">
                <a16:creationId xmlns:a16="http://schemas.microsoft.com/office/drawing/2014/main" id="{7055FC4D-305C-B66C-BD15-95904A343D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8970" y="1830625"/>
            <a:ext cx="8054060" cy="4242108"/>
          </a:xfrm>
          <a:prstGeom prst="rect">
            <a:avLst/>
          </a:prstGeom>
        </p:spPr>
      </p:pic>
    </p:spTree>
    <p:extLst>
      <p:ext uri="{BB962C8B-B14F-4D97-AF65-F5344CB8AC3E}">
        <p14:creationId xmlns:p14="http://schemas.microsoft.com/office/powerpoint/2010/main" val="3984835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93312970-1382-905E-DF3A-5D367E6E7736}"/>
              </a:ext>
            </a:extLst>
          </p:cNvPr>
          <p:cNvSpPr txBox="1">
            <a:spLocks/>
          </p:cNvSpPr>
          <p:nvPr/>
        </p:nvSpPr>
        <p:spPr>
          <a:xfrm>
            <a:off x="3467314" y="1852863"/>
            <a:ext cx="7886486" cy="4324100"/>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5000000000000000000" pitchFamily="2" charset="2"/>
              <a:buChar char="•"/>
            </a:pPr>
            <a:r>
              <a:rPr lang="en-US" sz="3600">
                <a:solidFill>
                  <a:srgbClr val="191919"/>
                </a:solidFill>
                <a:ea typeface="+mn-lt"/>
                <a:cs typeface="+mn-lt"/>
              </a:rPr>
              <a:t>Data Platform Engineer</a:t>
            </a:r>
            <a:endParaRPr lang="en-US" sz="3600">
              <a:solidFill>
                <a:srgbClr val="191919"/>
              </a:solidFill>
              <a:ea typeface="Calibri"/>
              <a:cs typeface="Calibri"/>
            </a:endParaRPr>
          </a:p>
          <a:p>
            <a:pPr>
              <a:buFont typeface="Arial" panose="05000000000000000000" pitchFamily="2" charset="2"/>
              <a:buChar char="•"/>
            </a:pPr>
            <a:r>
              <a:rPr lang="en-US" sz="3600">
                <a:solidFill>
                  <a:srgbClr val="191919"/>
                </a:solidFill>
                <a:ea typeface="+mn-lt"/>
                <a:cs typeface="+mn-lt"/>
              </a:rPr>
              <a:t>Open Source Contributor</a:t>
            </a:r>
            <a:endParaRPr lang="en-US"/>
          </a:p>
          <a:p>
            <a:pPr lvl="1">
              <a:buFont typeface="Courier New" panose="05000000000000000000" pitchFamily="2" charset="2"/>
              <a:buChar char="o"/>
            </a:pPr>
            <a:r>
              <a:rPr lang="en-US" sz="2800">
                <a:solidFill>
                  <a:srgbClr val="191919"/>
                </a:solidFill>
                <a:ea typeface="+mn-lt"/>
                <a:cs typeface="+mn-lt"/>
              </a:rPr>
              <a:t>dbatools, dbachecks, FabricTools</a:t>
            </a:r>
            <a:endParaRPr lang="en-US">
              <a:ea typeface="Calibri"/>
              <a:cs typeface="Calibri"/>
            </a:endParaRPr>
          </a:p>
          <a:p>
            <a:pPr>
              <a:buFont typeface="Arial" panose="05000000000000000000" pitchFamily="2" charset="2"/>
              <a:buChar char="•"/>
            </a:pPr>
            <a:r>
              <a:rPr lang="en-US" sz="3600">
                <a:solidFill>
                  <a:srgbClr val="191919"/>
                </a:solidFill>
                <a:ea typeface="+mn-lt"/>
                <a:cs typeface="+mn-lt"/>
              </a:rPr>
              <a:t>Passionate about Automation, Proper Football &amp; Fitness</a:t>
            </a:r>
            <a:endParaRPr lang="en-US"/>
          </a:p>
          <a:p>
            <a:pPr>
              <a:buFont typeface="Arial" panose="05000000000000000000" pitchFamily="2" charset="2"/>
              <a:buChar char="•"/>
            </a:pPr>
            <a:endParaRPr lang="en-US"/>
          </a:p>
          <a:p>
            <a:pPr>
              <a:buFont typeface="Arial" panose="05000000000000000000" pitchFamily="2" charset="2"/>
              <a:buChar char="•"/>
            </a:pPr>
            <a:r>
              <a:rPr lang="en-US" sz="3600">
                <a:solidFill>
                  <a:srgbClr val="191919"/>
                </a:solidFill>
                <a:ea typeface="+mn-lt"/>
                <a:cs typeface="+mn-lt"/>
                <a:hlinkClick r:id="rId2"/>
              </a:rPr>
              <a:t>jpomfret7@gmail.com</a:t>
            </a:r>
            <a:endParaRPr lang="en-US"/>
          </a:p>
          <a:p>
            <a:pPr>
              <a:buFont typeface="Arial" panose="05000000000000000000" pitchFamily="2" charset="2"/>
              <a:buChar char="•"/>
            </a:pPr>
            <a:r>
              <a:rPr lang="en-US" sz="3600">
                <a:solidFill>
                  <a:srgbClr val="191919"/>
                </a:solidFill>
                <a:ea typeface="+mn-lt"/>
                <a:cs typeface="+mn-lt"/>
              </a:rPr>
              <a:t>jesspomfret.com</a:t>
            </a:r>
            <a:endParaRPr lang="en-US"/>
          </a:p>
          <a:p>
            <a:pPr>
              <a:buFont typeface="Arial" panose="05000000000000000000" pitchFamily="2" charset="2"/>
              <a:buChar char="•"/>
            </a:pPr>
            <a:r>
              <a:rPr lang="en-US" sz="3600">
                <a:solidFill>
                  <a:srgbClr val="191919"/>
                </a:solidFill>
                <a:ea typeface="+mn-lt"/>
                <a:cs typeface="+mn-lt"/>
              </a:rPr>
              <a:t>linkedin.com/in/</a:t>
            </a:r>
            <a:r>
              <a:rPr lang="en-US" sz="3600" err="1">
                <a:solidFill>
                  <a:srgbClr val="191919"/>
                </a:solidFill>
                <a:ea typeface="+mn-lt"/>
                <a:cs typeface="+mn-lt"/>
              </a:rPr>
              <a:t>jpomfret</a:t>
            </a:r>
            <a:r>
              <a:rPr lang="en-US" sz="3600">
                <a:solidFill>
                  <a:srgbClr val="191919"/>
                </a:solidFill>
                <a:ea typeface="+mn-lt"/>
                <a:cs typeface="+mn-lt"/>
              </a:rPr>
              <a:t>/</a:t>
            </a:r>
            <a:endParaRPr lang="en-US"/>
          </a:p>
          <a:p>
            <a:pPr>
              <a:buFont typeface="Arial" panose="05000000000000000000" pitchFamily="2" charset="2"/>
              <a:buChar char="•"/>
            </a:pPr>
            <a:endParaRPr lang="en-US"/>
          </a:p>
          <a:p>
            <a:pPr>
              <a:buFont typeface="Arial" panose="05000000000000000000" pitchFamily="2" charset="2"/>
              <a:buChar char="•"/>
            </a:pPr>
            <a:endParaRPr lang="en-US" sz="3600">
              <a:solidFill>
                <a:srgbClr val="191919"/>
              </a:solidFill>
              <a:ea typeface="Calibri"/>
              <a:cs typeface="Calibri"/>
            </a:endParaRPr>
          </a:p>
        </p:txBody>
      </p:sp>
      <p:sp>
        <p:nvSpPr>
          <p:cNvPr id="2" name="Titel 1">
            <a:extLst>
              <a:ext uri="{FF2B5EF4-FFF2-40B4-BE49-F238E27FC236}">
                <a16:creationId xmlns:a16="http://schemas.microsoft.com/office/drawing/2014/main" id="{B63F84C9-7486-D81C-EDE7-12CE856D5B81}"/>
              </a:ext>
            </a:extLst>
          </p:cNvPr>
          <p:cNvSpPr>
            <a:spLocks noGrp="1"/>
          </p:cNvSpPr>
          <p:nvPr>
            <p:ph type="title"/>
          </p:nvPr>
        </p:nvSpPr>
        <p:spPr>
          <a:xfrm>
            <a:off x="3467312" y="324852"/>
            <a:ext cx="7886485" cy="1325563"/>
          </a:xfrm>
        </p:spPr>
        <p:txBody>
          <a:bodyPr>
            <a:normAutofit fontScale="90000"/>
          </a:bodyPr>
          <a:lstStyle/>
          <a:p>
            <a:r>
              <a:rPr lang="en-GB" sz="6600" dirty="0">
                <a:solidFill>
                  <a:srgbClr val="346296"/>
                </a:solidFill>
                <a:latin typeface="+mn-lt"/>
                <a:ea typeface="+mn-ea"/>
                <a:cs typeface="+mn-cs"/>
              </a:rPr>
              <a:t>Jess Pomfret </a:t>
            </a:r>
            <a:br>
              <a:rPr lang="en-GB" sz="6600" dirty="0">
                <a:solidFill>
                  <a:srgbClr val="346296"/>
                </a:solidFill>
                <a:latin typeface="+mn-lt"/>
                <a:ea typeface="+mn-ea"/>
                <a:cs typeface="+mn-cs"/>
              </a:rPr>
            </a:br>
            <a:r>
              <a:rPr lang="en-GB" sz="3100" dirty="0">
                <a:solidFill>
                  <a:srgbClr val="346296"/>
                </a:solidFill>
                <a:latin typeface="+mn-lt"/>
                <a:ea typeface="+mn-ea"/>
                <a:cs typeface="+mn-cs"/>
              </a:rPr>
              <a:t>She/Her</a:t>
            </a:r>
            <a:endParaRPr lang="en-DE" sz="6600" dirty="0">
              <a:solidFill>
                <a:srgbClr val="346296"/>
              </a:solidFill>
              <a:latin typeface="+mn-lt"/>
              <a:ea typeface="+mn-ea"/>
              <a:cs typeface="+mn-cs"/>
            </a:endParaRPr>
          </a:p>
        </p:txBody>
      </p:sp>
      <p:pic>
        <p:nvPicPr>
          <p:cNvPr id="4" name="Image 3" descr="Une image contenant Visage humain, habits, personne, sourire&#10;&#10;Description générée automatiquement">
            <a:extLst>
              <a:ext uri="{FF2B5EF4-FFF2-40B4-BE49-F238E27FC236}">
                <a16:creationId xmlns:a16="http://schemas.microsoft.com/office/drawing/2014/main" id="{E6BA0E72-B9E1-A0C6-F8B0-8254DF100C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464" y="210232"/>
            <a:ext cx="3218768" cy="3218768"/>
          </a:xfrm>
          <a:prstGeom prst="rect">
            <a:avLst/>
          </a:prstGeom>
        </p:spPr>
      </p:pic>
      <p:pic>
        <p:nvPicPr>
          <p:cNvPr id="3" name="Picture 2" descr="A blue and white logo&#10;&#10;AI-generated content may be incorrect.">
            <a:extLst>
              <a:ext uri="{FF2B5EF4-FFF2-40B4-BE49-F238E27FC236}">
                <a16:creationId xmlns:a16="http://schemas.microsoft.com/office/drawing/2014/main" id="{50FF60D4-7005-1A55-AA2A-D9A11AF17CD0}"/>
              </a:ext>
            </a:extLst>
          </p:cNvPr>
          <p:cNvPicPr>
            <a:picLocks noChangeAspect="1"/>
          </p:cNvPicPr>
          <p:nvPr/>
        </p:nvPicPr>
        <p:blipFill>
          <a:blip r:embed="rId4"/>
          <a:stretch>
            <a:fillRect/>
          </a:stretch>
        </p:blipFill>
        <p:spPr>
          <a:xfrm>
            <a:off x="1233130" y="3662766"/>
            <a:ext cx="1021436" cy="1624739"/>
          </a:xfrm>
          <a:prstGeom prst="rect">
            <a:avLst/>
          </a:prstGeom>
        </p:spPr>
      </p:pic>
      <p:pic>
        <p:nvPicPr>
          <p:cNvPr id="6" name="Picture 5" descr="A logo of a brain&#10;&#10;AI-generated content may be incorrect.">
            <a:extLst>
              <a:ext uri="{FF2B5EF4-FFF2-40B4-BE49-F238E27FC236}">
                <a16:creationId xmlns:a16="http://schemas.microsoft.com/office/drawing/2014/main" id="{080A148E-E65E-D69F-35E0-B032076A6B08}"/>
              </a:ext>
            </a:extLst>
          </p:cNvPr>
          <p:cNvPicPr>
            <a:picLocks noChangeAspect="1"/>
          </p:cNvPicPr>
          <p:nvPr/>
        </p:nvPicPr>
        <p:blipFill>
          <a:blip r:embed="rId5"/>
          <a:stretch>
            <a:fillRect/>
          </a:stretch>
        </p:blipFill>
        <p:spPr>
          <a:xfrm>
            <a:off x="367485" y="5586413"/>
            <a:ext cx="2752725" cy="1181100"/>
          </a:xfrm>
          <a:prstGeom prst="rect">
            <a:avLst/>
          </a:prstGeom>
        </p:spPr>
      </p:pic>
      <p:pic>
        <p:nvPicPr>
          <p:cNvPr id="7" name="Object 10" descr="preencoded.png">
            <a:extLst>
              <a:ext uri="{FF2B5EF4-FFF2-40B4-BE49-F238E27FC236}">
                <a16:creationId xmlns:a16="http://schemas.microsoft.com/office/drawing/2014/main" id="{685DECA8-F5EE-19C1-A7CB-05481013FC53}"/>
              </a:ext>
            </a:extLst>
          </p:cNvPr>
          <p:cNvPicPr>
            <a:picLocks noChangeAspect="1"/>
          </p:cNvPicPr>
          <p:nvPr/>
        </p:nvPicPr>
        <p:blipFill>
          <a:blip r:embed="rId6"/>
          <a:srcRect l="10188" t="1720" r="10188" b="1720"/>
          <a:stretch/>
        </p:blipFill>
        <p:spPr>
          <a:xfrm>
            <a:off x="9760905" y="563771"/>
            <a:ext cx="1429173" cy="2173288"/>
          </a:xfrm>
          <a:prstGeom prst="rect">
            <a:avLst/>
          </a:prstGeom>
        </p:spPr>
      </p:pic>
    </p:spTree>
    <p:extLst>
      <p:ext uri="{BB962C8B-B14F-4D97-AF65-F5344CB8AC3E}">
        <p14:creationId xmlns:p14="http://schemas.microsoft.com/office/powerpoint/2010/main" val="608942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1E0F2-FE77-51ED-3F72-223B58926E74}"/>
              </a:ext>
            </a:extLst>
          </p:cNvPr>
          <p:cNvSpPr>
            <a:spLocks noGrp="1"/>
          </p:cNvSpPr>
          <p:nvPr>
            <p:ph type="title"/>
          </p:nvPr>
        </p:nvSpPr>
        <p:spPr>
          <a:xfrm>
            <a:off x="7192108" y="1982909"/>
            <a:ext cx="4577862" cy="3667613"/>
          </a:xfrm>
        </p:spPr>
        <p:txBody>
          <a:bodyPr/>
          <a:lstStyle/>
          <a:p>
            <a:r>
              <a:rPr lang="fr-FR" dirty="0"/>
              <a:t>The </a:t>
            </a:r>
            <a:r>
              <a:rPr lang="fr-FR" dirty="0" err="1"/>
              <a:t>old</a:t>
            </a:r>
            <a:r>
              <a:rPr lang="fr-FR" dirty="0"/>
              <a:t> </a:t>
            </a:r>
            <a:r>
              <a:rPr lang="fr-FR" dirty="0" err="1"/>
              <a:t>days</a:t>
            </a:r>
            <a:r>
              <a:rPr lang="fr-FR" dirty="0"/>
              <a:t>… </a:t>
            </a:r>
            <a:endParaRPr lang="en-GB" dirty="0"/>
          </a:p>
        </p:txBody>
      </p:sp>
      <p:pic>
        <p:nvPicPr>
          <p:cNvPr id="7" name="Picture 6" descr="A person working on a computer&#10;&#10;AI-generated content may be incorrect.">
            <a:extLst>
              <a:ext uri="{FF2B5EF4-FFF2-40B4-BE49-F238E27FC236}">
                <a16:creationId xmlns:a16="http://schemas.microsoft.com/office/drawing/2014/main" id="{CD2A9E01-478C-6B29-9A45-AB4AB3C46AAA}"/>
              </a:ext>
            </a:extLst>
          </p:cNvPr>
          <p:cNvPicPr>
            <a:picLocks noChangeAspect="1"/>
          </p:cNvPicPr>
          <p:nvPr/>
        </p:nvPicPr>
        <p:blipFill>
          <a:blip r:embed="rId3"/>
          <a:stretch>
            <a:fillRect/>
          </a:stretch>
        </p:blipFill>
        <p:spPr>
          <a:xfrm>
            <a:off x="0" y="0"/>
            <a:ext cx="6858000" cy="6858000"/>
          </a:xfrm>
          <a:prstGeom prst="rect">
            <a:avLst/>
          </a:prstGeom>
        </p:spPr>
      </p:pic>
    </p:spTree>
    <p:extLst>
      <p:ext uri="{BB962C8B-B14F-4D97-AF65-F5344CB8AC3E}">
        <p14:creationId xmlns:p14="http://schemas.microsoft.com/office/powerpoint/2010/main" val="110136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73FE7-5848-684A-F53B-AB710D6979AE}"/>
              </a:ext>
            </a:extLst>
          </p:cNvPr>
          <p:cNvSpPr>
            <a:spLocks noGrp="1"/>
          </p:cNvSpPr>
          <p:nvPr>
            <p:ph type="title"/>
          </p:nvPr>
        </p:nvSpPr>
        <p:spPr/>
        <p:txBody>
          <a:bodyPr/>
          <a:lstStyle/>
          <a:p>
            <a:endParaRPr lang="en-GB" dirty="0"/>
          </a:p>
        </p:txBody>
      </p:sp>
      <p:pic>
        <p:nvPicPr>
          <p:cNvPr id="5" name="Content Placeholder 4" descr="A cartoon of several computer servers falling into the cloud&#10;&#10;AI-generated content may be incorrect.">
            <a:extLst>
              <a:ext uri="{FF2B5EF4-FFF2-40B4-BE49-F238E27FC236}">
                <a16:creationId xmlns:a16="http://schemas.microsoft.com/office/drawing/2014/main" id="{4B0DCBF3-F32F-BF18-D56D-032FA42FA676}"/>
              </a:ext>
            </a:extLst>
          </p:cNvPr>
          <p:cNvPicPr>
            <a:picLocks noGrp="1" noChangeAspect="1"/>
          </p:cNvPicPr>
          <p:nvPr>
            <p:ph idx="1"/>
          </p:nvPr>
        </p:nvPicPr>
        <p:blipFill>
          <a:blip r:embed="rId3"/>
          <a:stretch>
            <a:fillRect/>
          </a:stretch>
        </p:blipFill>
        <p:spPr>
          <a:xfrm>
            <a:off x="3793959" y="-24061"/>
            <a:ext cx="4604081" cy="6906122"/>
          </a:xfrm>
        </p:spPr>
      </p:pic>
    </p:spTree>
    <p:extLst>
      <p:ext uri="{BB962C8B-B14F-4D97-AF65-F5344CB8AC3E}">
        <p14:creationId xmlns:p14="http://schemas.microsoft.com/office/powerpoint/2010/main" val="3363327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437F529-E057-2EBD-90AC-F7CEC4DDBE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1492" y="1739939"/>
            <a:ext cx="1260000" cy="1260000"/>
          </a:xfrm>
          <a:prstGeom prst="rect">
            <a:avLst/>
          </a:prstGeom>
        </p:spPr>
      </p:pic>
      <p:pic>
        <p:nvPicPr>
          <p:cNvPr id="11" name="Graphic 10">
            <a:extLst>
              <a:ext uri="{FF2B5EF4-FFF2-40B4-BE49-F238E27FC236}">
                <a16:creationId xmlns:a16="http://schemas.microsoft.com/office/drawing/2014/main" id="{03945F50-A92B-2551-EA53-2D7D19DC865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84808" y="3400248"/>
            <a:ext cx="1260000" cy="1260000"/>
          </a:xfrm>
          <a:prstGeom prst="rect">
            <a:avLst/>
          </a:prstGeom>
        </p:spPr>
      </p:pic>
      <p:pic>
        <p:nvPicPr>
          <p:cNvPr id="13" name="Graphic 12">
            <a:extLst>
              <a:ext uri="{FF2B5EF4-FFF2-40B4-BE49-F238E27FC236}">
                <a16:creationId xmlns:a16="http://schemas.microsoft.com/office/drawing/2014/main" id="{AF00D0A3-7DB7-2B03-22D7-7184E1E50B9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85287" y="3428578"/>
            <a:ext cx="1260000" cy="1260000"/>
          </a:xfrm>
          <a:prstGeom prst="rect">
            <a:avLst/>
          </a:prstGeom>
        </p:spPr>
      </p:pic>
      <p:pic>
        <p:nvPicPr>
          <p:cNvPr id="17" name="Graphic 16">
            <a:extLst>
              <a:ext uri="{FF2B5EF4-FFF2-40B4-BE49-F238E27FC236}">
                <a16:creationId xmlns:a16="http://schemas.microsoft.com/office/drawing/2014/main" id="{2190B99E-D90B-FFBD-7559-C0A92D52306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26132" y="1739939"/>
            <a:ext cx="1260000" cy="1260000"/>
          </a:xfrm>
          <a:prstGeom prst="rect">
            <a:avLst/>
          </a:prstGeom>
        </p:spPr>
      </p:pic>
      <p:pic>
        <p:nvPicPr>
          <p:cNvPr id="19" name="Graphic 18">
            <a:extLst>
              <a:ext uri="{FF2B5EF4-FFF2-40B4-BE49-F238E27FC236}">
                <a16:creationId xmlns:a16="http://schemas.microsoft.com/office/drawing/2014/main" id="{E37D8112-F518-235B-D029-4E6AD3290B6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26132" y="4901521"/>
            <a:ext cx="1260000" cy="1260000"/>
          </a:xfrm>
          <a:prstGeom prst="rect">
            <a:avLst/>
          </a:prstGeom>
        </p:spPr>
      </p:pic>
      <p:pic>
        <p:nvPicPr>
          <p:cNvPr id="23" name="Graphic 22">
            <a:extLst>
              <a:ext uri="{FF2B5EF4-FFF2-40B4-BE49-F238E27FC236}">
                <a16:creationId xmlns:a16="http://schemas.microsoft.com/office/drawing/2014/main" id="{7722281A-4343-E3C1-AE55-90D9B222966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713812" y="1739939"/>
            <a:ext cx="1260000" cy="1260000"/>
          </a:xfrm>
          <a:prstGeom prst="rect">
            <a:avLst/>
          </a:prstGeom>
        </p:spPr>
      </p:pic>
      <p:pic>
        <p:nvPicPr>
          <p:cNvPr id="25" name="Graphic 24">
            <a:extLst>
              <a:ext uri="{FF2B5EF4-FFF2-40B4-BE49-F238E27FC236}">
                <a16:creationId xmlns:a16="http://schemas.microsoft.com/office/drawing/2014/main" id="{EF81324F-1A3E-B477-BB56-013EA34FBEC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713812" y="4901521"/>
            <a:ext cx="1260000" cy="1260000"/>
          </a:xfrm>
          <a:prstGeom prst="rect">
            <a:avLst/>
          </a:prstGeom>
        </p:spPr>
      </p:pic>
      <p:sp>
        <p:nvSpPr>
          <p:cNvPr id="26" name="Title 25">
            <a:extLst>
              <a:ext uri="{FF2B5EF4-FFF2-40B4-BE49-F238E27FC236}">
                <a16:creationId xmlns:a16="http://schemas.microsoft.com/office/drawing/2014/main" id="{8B6B37FD-748C-04BC-3272-27A18ED2B192}"/>
              </a:ext>
            </a:extLst>
          </p:cNvPr>
          <p:cNvSpPr>
            <a:spLocks noGrp="1"/>
          </p:cNvSpPr>
          <p:nvPr>
            <p:ph type="title"/>
          </p:nvPr>
        </p:nvSpPr>
        <p:spPr/>
        <p:txBody>
          <a:bodyPr/>
          <a:lstStyle/>
          <a:p>
            <a:r>
              <a:rPr lang="en-GB" dirty="0"/>
              <a:t>Azure Services</a:t>
            </a:r>
          </a:p>
        </p:txBody>
      </p:sp>
    </p:spTree>
    <p:extLst>
      <p:ext uri="{BB962C8B-B14F-4D97-AF65-F5344CB8AC3E}">
        <p14:creationId xmlns:p14="http://schemas.microsoft.com/office/powerpoint/2010/main" val="185394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C3FF0-E82C-3DCB-6DE8-A3400010E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155477-5AE5-A60B-BB40-5B9E425123D2}"/>
              </a:ext>
            </a:extLst>
          </p:cNvPr>
          <p:cNvSpPr>
            <a:spLocks noGrp="1"/>
          </p:cNvSpPr>
          <p:nvPr>
            <p:ph type="title"/>
          </p:nvPr>
        </p:nvSpPr>
        <p:spPr/>
        <p:txBody>
          <a:bodyPr>
            <a:normAutofit fontScale="90000"/>
          </a:bodyPr>
          <a:lstStyle/>
          <a:p>
            <a:r>
              <a:rPr lang="en-GB" dirty="0"/>
              <a:t>But where is our PowerShell now?</a:t>
            </a:r>
          </a:p>
        </p:txBody>
      </p:sp>
      <p:grpSp>
        <p:nvGrpSpPr>
          <p:cNvPr id="9" name="Group 8">
            <a:extLst>
              <a:ext uri="{FF2B5EF4-FFF2-40B4-BE49-F238E27FC236}">
                <a16:creationId xmlns:a16="http://schemas.microsoft.com/office/drawing/2014/main" id="{7D0DFFBC-DA18-AA78-6BCB-1B6862B76768}"/>
              </a:ext>
            </a:extLst>
          </p:cNvPr>
          <p:cNvGrpSpPr/>
          <p:nvPr/>
        </p:nvGrpSpPr>
        <p:grpSpPr>
          <a:xfrm>
            <a:off x="663879" y="1870533"/>
            <a:ext cx="3202420" cy="3920646"/>
            <a:chOff x="663879" y="1870533"/>
            <a:chExt cx="3202420" cy="3920646"/>
          </a:xfrm>
        </p:grpSpPr>
        <p:sp>
          <p:nvSpPr>
            <p:cNvPr id="5" name="Rectangle: Rounded Corners 4">
              <a:extLst>
                <a:ext uri="{FF2B5EF4-FFF2-40B4-BE49-F238E27FC236}">
                  <a16:creationId xmlns:a16="http://schemas.microsoft.com/office/drawing/2014/main" id="{A4526F2B-AFD3-4516-03CC-DACD44259A33}"/>
                </a:ext>
              </a:extLst>
            </p:cNvPr>
            <p:cNvSpPr/>
            <p:nvPr/>
          </p:nvSpPr>
          <p:spPr>
            <a:xfrm>
              <a:off x="663879" y="1870533"/>
              <a:ext cx="3202420" cy="392064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032" name="Picture 8">
              <a:extLst>
                <a:ext uri="{FF2B5EF4-FFF2-40B4-BE49-F238E27FC236}">
                  <a16:creationId xmlns:a16="http://schemas.microsoft.com/office/drawing/2014/main" id="{4ECEDE8D-EFDC-72AC-09BE-967C3A61AE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5089" y="3261358"/>
              <a:ext cx="1440000" cy="101932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3671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7BC6B-49B2-5914-86F6-18D7DFE72E0F}"/>
              </a:ext>
            </a:extLst>
          </p:cNvPr>
          <p:cNvSpPr>
            <a:spLocks noGrp="1"/>
          </p:cNvSpPr>
          <p:nvPr>
            <p:ph type="title"/>
          </p:nvPr>
        </p:nvSpPr>
        <p:spPr>
          <a:xfrm>
            <a:off x="838200" y="365125"/>
            <a:ext cx="9733280" cy="1325563"/>
          </a:xfrm>
        </p:spPr>
        <p:txBody>
          <a:bodyPr anchor="ctr">
            <a:normAutofit/>
          </a:bodyPr>
          <a:lstStyle/>
          <a:p>
            <a:r>
              <a:rPr lang="en-GB" dirty="0"/>
              <a:t>Azure Cloud Shell</a:t>
            </a:r>
          </a:p>
        </p:txBody>
      </p:sp>
      <p:pic>
        <p:nvPicPr>
          <p:cNvPr id="6" name="Picture 5">
            <a:extLst>
              <a:ext uri="{FF2B5EF4-FFF2-40B4-BE49-F238E27FC236}">
                <a16:creationId xmlns:a16="http://schemas.microsoft.com/office/drawing/2014/main" id="{603881BC-B377-D69A-1601-18302138674F}"/>
              </a:ext>
            </a:extLst>
          </p:cNvPr>
          <p:cNvPicPr>
            <a:picLocks noChangeAspect="1"/>
          </p:cNvPicPr>
          <p:nvPr/>
        </p:nvPicPr>
        <p:blipFill>
          <a:blip r:embed="rId3"/>
          <a:stretch>
            <a:fillRect/>
          </a:stretch>
        </p:blipFill>
        <p:spPr>
          <a:xfrm>
            <a:off x="838200" y="1499948"/>
            <a:ext cx="8977067" cy="4712961"/>
          </a:xfrm>
          <a:prstGeom prst="rect">
            <a:avLst/>
          </a:prstGeom>
          <a:noFill/>
        </p:spPr>
      </p:pic>
    </p:spTree>
    <p:extLst>
      <p:ext uri="{BB962C8B-B14F-4D97-AF65-F5344CB8AC3E}">
        <p14:creationId xmlns:p14="http://schemas.microsoft.com/office/powerpoint/2010/main" val="31681852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C2A75-D67E-1EF2-290E-BBE0AEFB1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9EE95-1D27-E591-E020-14CE3739F72E}"/>
              </a:ext>
            </a:extLst>
          </p:cNvPr>
          <p:cNvSpPr>
            <a:spLocks noGrp="1"/>
          </p:cNvSpPr>
          <p:nvPr>
            <p:ph type="title"/>
          </p:nvPr>
        </p:nvSpPr>
        <p:spPr/>
        <p:txBody>
          <a:bodyPr>
            <a:normAutofit fontScale="90000"/>
          </a:bodyPr>
          <a:lstStyle/>
          <a:p>
            <a:r>
              <a:rPr lang="en-GB" dirty="0"/>
              <a:t>But where is our PowerShell now?</a:t>
            </a:r>
          </a:p>
        </p:txBody>
      </p:sp>
      <p:grpSp>
        <p:nvGrpSpPr>
          <p:cNvPr id="9" name="Group 8">
            <a:extLst>
              <a:ext uri="{FF2B5EF4-FFF2-40B4-BE49-F238E27FC236}">
                <a16:creationId xmlns:a16="http://schemas.microsoft.com/office/drawing/2014/main" id="{73C5B84D-5147-B96B-D9CF-FF5F1DB5DCF7}"/>
              </a:ext>
            </a:extLst>
          </p:cNvPr>
          <p:cNvGrpSpPr/>
          <p:nvPr/>
        </p:nvGrpSpPr>
        <p:grpSpPr>
          <a:xfrm>
            <a:off x="663879" y="1870533"/>
            <a:ext cx="3202420" cy="3920646"/>
            <a:chOff x="663879" y="1870533"/>
            <a:chExt cx="3202420" cy="3920646"/>
          </a:xfrm>
        </p:grpSpPr>
        <p:sp>
          <p:nvSpPr>
            <p:cNvPr id="5" name="Rectangle: Rounded Corners 4">
              <a:extLst>
                <a:ext uri="{FF2B5EF4-FFF2-40B4-BE49-F238E27FC236}">
                  <a16:creationId xmlns:a16="http://schemas.microsoft.com/office/drawing/2014/main" id="{49E6E271-2644-B814-D084-8113C5E8BED0}"/>
                </a:ext>
              </a:extLst>
            </p:cNvPr>
            <p:cNvSpPr/>
            <p:nvPr/>
          </p:nvSpPr>
          <p:spPr>
            <a:xfrm>
              <a:off x="663879" y="1870533"/>
              <a:ext cx="3202420" cy="392064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032" name="Picture 8">
              <a:extLst>
                <a:ext uri="{FF2B5EF4-FFF2-40B4-BE49-F238E27FC236}">
                  <a16:creationId xmlns:a16="http://schemas.microsoft.com/office/drawing/2014/main" id="{94F787AC-76F5-37BD-344D-793288637F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5089" y="3261358"/>
              <a:ext cx="1440000" cy="10193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a:extLst>
              <a:ext uri="{FF2B5EF4-FFF2-40B4-BE49-F238E27FC236}">
                <a16:creationId xmlns:a16="http://schemas.microsoft.com/office/drawing/2014/main" id="{9AFBC2FE-8352-82F3-84C1-EBAA295209E8}"/>
              </a:ext>
            </a:extLst>
          </p:cNvPr>
          <p:cNvGrpSpPr/>
          <p:nvPr/>
        </p:nvGrpSpPr>
        <p:grpSpPr>
          <a:xfrm>
            <a:off x="4477711" y="1870533"/>
            <a:ext cx="3202420" cy="3920646"/>
            <a:chOff x="4477711" y="1870533"/>
            <a:chExt cx="3202420" cy="3920646"/>
          </a:xfrm>
        </p:grpSpPr>
        <p:sp>
          <p:nvSpPr>
            <p:cNvPr id="6" name="Rectangle: Rounded Corners 5">
              <a:extLst>
                <a:ext uri="{FF2B5EF4-FFF2-40B4-BE49-F238E27FC236}">
                  <a16:creationId xmlns:a16="http://schemas.microsoft.com/office/drawing/2014/main" id="{D8E9F1B9-0F69-DB7D-297F-E205581FF415}"/>
                </a:ext>
              </a:extLst>
            </p:cNvPr>
            <p:cNvSpPr/>
            <p:nvPr/>
          </p:nvSpPr>
          <p:spPr>
            <a:xfrm>
              <a:off x="4477711" y="1870533"/>
              <a:ext cx="3202420" cy="392064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028" name="Picture 4">
              <a:extLst>
                <a:ext uri="{FF2B5EF4-FFF2-40B4-BE49-F238E27FC236}">
                  <a16:creationId xmlns:a16="http://schemas.microsoft.com/office/drawing/2014/main" id="{0EC336E9-3905-1887-B330-946006892FD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511" r="18584"/>
            <a:stretch/>
          </p:blipFill>
          <p:spPr bwMode="auto">
            <a:xfrm>
              <a:off x="4824999" y="2227173"/>
              <a:ext cx="1440000" cy="120182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D32311A3-60A7-87C6-28A8-9EEB4A4646E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603" t="4246" r="20315" b="-4246"/>
            <a:stretch/>
          </p:blipFill>
          <p:spPr bwMode="auto">
            <a:xfrm>
              <a:off x="6003410" y="3180053"/>
              <a:ext cx="1440000" cy="130160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0C0D4B9F-4A76-B555-CD16-FA20A24FA55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2140" r="14536"/>
            <a:stretch/>
          </p:blipFill>
          <p:spPr bwMode="auto">
            <a:xfrm>
              <a:off x="4824999" y="4491022"/>
              <a:ext cx="1440000" cy="103104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635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E1A20-11F6-FD60-E836-860D56DA367C}"/>
              </a:ext>
            </a:extLst>
          </p:cNvPr>
          <p:cNvSpPr>
            <a:spLocks noGrp="1"/>
          </p:cNvSpPr>
          <p:nvPr>
            <p:ph type="title"/>
          </p:nvPr>
        </p:nvSpPr>
        <p:spPr/>
        <p:txBody>
          <a:bodyPr/>
          <a:lstStyle/>
          <a:p>
            <a:r>
              <a:rPr lang="en-GB" dirty="0"/>
              <a:t>Serverless Automation in Azure</a:t>
            </a:r>
          </a:p>
        </p:txBody>
      </p:sp>
      <p:pic>
        <p:nvPicPr>
          <p:cNvPr id="3" name="Picture 4">
            <a:extLst>
              <a:ext uri="{FF2B5EF4-FFF2-40B4-BE49-F238E27FC236}">
                <a16:creationId xmlns:a16="http://schemas.microsoft.com/office/drawing/2014/main" id="{D7838E3E-57DA-2F4C-AC84-FE61417D35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511" r="18584"/>
          <a:stretch/>
        </p:blipFill>
        <p:spPr bwMode="auto">
          <a:xfrm>
            <a:off x="838200" y="2377401"/>
            <a:ext cx="2520000" cy="210319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195CD8DD-D090-EB2D-38C0-DEE30201D62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603" t="4246" r="20315" b="-4246"/>
          <a:stretch/>
        </p:blipFill>
        <p:spPr bwMode="auto">
          <a:xfrm>
            <a:off x="4628338" y="2290095"/>
            <a:ext cx="2520000" cy="22778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a:extLst>
              <a:ext uri="{FF2B5EF4-FFF2-40B4-BE49-F238E27FC236}">
                <a16:creationId xmlns:a16="http://schemas.microsoft.com/office/drawing/2014/main" id="{25BD2324-3141-5BC2-C44A-A18FFD8ECC6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140" r="14536"/>
          <a:stretch/>
        </p:blipFill>
        <p:spPr bwMode="auto">
          <a:xfrm>
            <a:off x="8418476" y="2526838"/>
            <a:ext cx="2520000" cy="1804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4447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DA91E-0A81-01E1-2F01-59DCD2C56E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6BCD6-664A-B58B-FF2B-77678259F02E}"/>
              </a:ext>
            </a:extLst>
          </p:cNvPr>
          <p:cNvSpPr>
            <a:spLocks noGrp="1"/>
          </p:cNvSpPr>
          <p:nvPr>
            <p:ph type="title"/>
          </p:nvPr>
        </p:nvSpPr>
        <p:spPr/>
        <p:txBody>
          <a:bodyPr/>
          <a:lstStyle/>
          <a:p>
            <a:r>
              <a:rPr lang="en-GB" dirty="0"/>
              <a:t>Serverless Automation in Azure</a:t>
            </a:r>
          </a:p>
        </p:txBody>
      </p:sp>
      <p:pic>
        <p:nvPicPr>
          <p:cNvPr id="3" name="Picture 4">
            <a:extLst>
              <a:ext uri="{FF2B5EF4-FFF2-40B4-BE49-F238E27FC236}">
                <a16:creationId xmlns:a16="http://schemas.microsoft.com/office/drawing/2014/main" id="{FC535E3F-96AA-0491-CF43-79449823548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511" r="18584"/>
          <a:stretch/>
        </p:blipFill>
        <p:spPr bwMode="auto">
          <a:xfrm>
            <a:off x="1455966" y="1449547"/>
            <a:ext cx="900000" cy="75114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4187A371-7C63-7558-3FE6-6F0AF01BA54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1603" t="4246" r="20315" b="-4246"/>
          <a:stretch/>
        </p:blipFill>
        <p:spPr bwMode="auto">
          <a:xfrm>
            <a:off x="5246104" y="1362241"/>
            <a:ext cx="900000" cy="81350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0">
            <a:extLst>
              <a:ext uri="{FF2B5EF4-FFF2-40B4-BE49-F238E27FC236}">
                <a16:creationId xmlns:a16="http://schemas.microsoft.com/office/drawing/2014/main" id="{6AA1DB22-BFDD-CE68-2043-FC11E34393B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140" r="14536"/>
          <a:stretch/>
        </p:blipFill>
        <p:spPr bwMode="auto">
          <a:xfrm>
            <a:off x="9015229" y="1515956"/>
            <a:ext cx="900000" cy="64440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CB75B87-1A12-E96E-8E25-35F07D313FE0}"/>
              </a:ext>
            </a:extLst>
          </p:cNvPr>
          <p:cNvSpPr txBox="1"/>
          <p:nvPr/>
        </p:nvSpPr>
        <p:spPr>
          <a:xfrm>
            <a:off x="3472588" y="5607140"/>
            <a:ext cx="4997885" cy="523220"/>
          </a:xfrm>
          <a:prstGeom prst="rect">
            <a:avLst/>
          </a:prstGeom>
          <a:noFill/>
        </p:spPr>
        <p:txBody>
          <a:bodyPr wrap="square" rtlCol="0">
            <a:spAutoFit/>
          </a:bodyPr>
          <a:lstStyle/>
          <a:p>
            <a:r>
              <a:rPr lang="en-GB" sz="2800" dirty="0"/>
              <a:t>Choose the right tool for the job!</a:t>
            </a:r>
          </a:p>
        </p:txBody>
      </p:sp>
      <p:sp>
        <p:nvSpPr>
          <p:cNvPr id="10" name="AutoShape 3">
            <a:extLst>
              <a:ext uri="{FF2B5EF4-FFF2-40B4-BE49-F238E27FC236}">
                <a16:creationId xmlns:a16="http://schemas.microsoft.com/office/drawing/2014/main" id="{66F72B1C-D95C-8C78-292C-E20AD2A8E43E}"/>
              </a:ext>
            </a:extLst>
          </p:cNvPr>
          <p:cNvSpPr>
            <a:spLocks noChangeAspect="1" noChangeArrowheads="1" noTextEdit="1"/>
          </p:cNvSpPr>
          <p:nvPr/>
        </p:nvSpPr>
        <p:spPr bwMode="auto">
          <a:xfrm>
            <a:off x="943336" y="2687804"/>
            <a:ext cx="10093325"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Rectangle 5">
            <a:extLst>
              <a:ext uri="{FF2B5EF4-FFF2-40B4-BE49-F238E27FC236}">
                <a16:creationId xmlns:a16="http://schemas.microsoft.com/office/drawing/2014/main" id="{E47DE197-71FF-07AC-F598-66A1C2D255C1}"/>
              </a:ext>
            </a:extLst>
          </p:cNvPr>
          <p:cNvSpPr>
            <a:spLocks noChangeArrowheads="1"/>
          </p:cNvSpPr>
          <p:nvPr/>
        </p:nvSpPr>
        <p:spPr bwMode="auto">
          <a:xfrm>
            <a:off x="1066006" y="2351425"/>
            <a:ext cx="3352800" cy="365125"/>
          </a:xfrm>
          <a:prstGeom prst="rect">
            <a:avLst/>
          </a:prstGeom>
          <a:solidFill>
            <a:srgbClr val="32619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2" name="Rectangle 6">
            <a:extLst>
              <a:ext uri="{FF2B5EF4-FFF2-40B4-BE49-F238E27FC236}">
                <a16:creationId xmlns:a16="http://schemas.microsoft.com/office/drawing/2014/main" id="{4AFA53D9-5A4B-0F97-F4F5-DB5F666FE19F}"/>
              </a:ext>
            </a:extLst>
          </p:cNvPr>
          <p:cNvSpPr>
            <a:spLocks noChangeArrowheads="1"/>
          </p:cNvSpPr>
          <p:nvPr/>
        </p:nvSpPr>
        <p:spPr bwMode="auto">
          <a:xfrm>
            <a:off x="4418806" y="2351425"/>
            <a:ext cx="3352800" cy="366713"/>
          </a:xfrm>
          <a:prstGeom prst="rect">
            <a:avLst/>
          </a:prstGeom>
          <a:solidFill>
            <a:srgbClr val="32619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Rectangle 7">
            <a:extLst>
              <a:ext uri="{FF2B5EF4-FFF2-40B4-BE49-F238E27FC236}">
                <a16:creationId xmlns:a16="http://schemas.microsoft.com/office/drawing/2014/main" id="{807734E2-1EB7-6986-01C1-928FE648ACE5}"/>
              </a:ext>
            </a:extLst>
          </p:cNvPr>
          <p:cNvSpPr>
            <a:spLocks noChangeArrowheads="1"/>
          </p:cNvSpPr>
          <p:nvPr/>
        </p:nvSpPr>
        <p:spPr bwMode="auto">
          <a:xfrm>
            <a:off x="7771606" y="2351425"/>
            <a:ext cx="3354388" cy="366713"/>
          </a:xfrm>
          <a:prstGeom prst="rect">
            <a:avLst/>
          </a:prstGeom>
          <a:solidFill>
            <a:srgbClr val="32619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Line 20">
            <a:extLst>
              <a:ext uri="{FF2B5EF4-FFF2-40B4-BE49-F238E27FC236}">
                <a16:creationId xmlns:a16="http://schemas.microsoft.com/office/drawing/2014/main" id="{C06290D0-82A3-ADB2-A91F-15C75A266F5F}"/>
              </a:ext>
            </a:extLst>
          </p:cNvPr>
          <p:cNvSpPr>
            <a:spLocks noChangeShapeType="1"/>
          </p:cNvSpPr>
          <p:nvPr/>
        </p:nvSpPr>
        <p:spPr bwMode="auto">
          <a:xfrm>
            <a:off x="4418806" y="2345075"/>
            <a:ext cx="0" cy="2665413"/>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 name="Line 21">
            <a:extLst>
              <a:ext uri="{FF2B5EF4-FFF2-40B4-BE49-F238E27FC236}">
                <a16:creationId xmlns:a16="http://schemas.microsoft.com/office/drawing/2014/main" id="{7B5EFC11-50C5-442B-CA28-F30C9347BFC1}"/>
              </a:ext>
            </a:extLst>
          </p:cNvPr>
          <p:cNvSpPr>
            <a:spLocks noChangeShapeType="1"/>
          </p:cNvSpPr>
          <p:nvPr/>
        </p:nvSpPr>
        <p:spPr bwMode="auto">
          <a:xfrm>
            <a:off x="7771606" y="2345075"/>
            <a:ext cx="0" cy="2665413"/>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 name="Line 26">
            <a:extLst>
              <a:ext uri="{FF2B5EF4-FFF2-40B4-BE49-F238E27FC236}">
                <a16:creationId xmlns:a16="http://schemas.microsoft.com/office/drawing/2014/main" id="{098FAD52-40CE-838B-E619-F5721BFC2C65}"/>
              </a:ext>
            </a:extLst>
          </p:cNvPr>
          <p:cNvSpPr>
            <a:spLocks noChangeShapeType="1"/>
          </p:cNvSpPr>
          <p:nvPr/>
        </p:nvSpPr>
        <p:spPr bwMode="auto">
          <a:xfrm>
            <a:off x="1066006" y="2345075"/>
            <a:ext cx="0" cy="2665413"/>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 name="Line 27">
            <a:extLst>
              <a:ext uri="{FF2B5EF4-FFF2-40B4-BE49-F238E27FC236}">
                <a16:creationId xmlns:a16="http://schemas.microsoft.com/office/drawing/2014/main" id="{78B97605-57C0-A77E-2722-B684A0798282}"/>
              </a:ext>
            </a:extLst>
          </p:cNvPr>
          <p:cNvSpPr>
            <a:spLocks noChangeShapeType="1"/>
          </p:cNvSpPr>
          <p:nvPr/>
        </p:nvSpPr>
        <p:spPr bwMode="auto">
          <a:xfrm>
            <a:off x="11125993" y="2345075"/>
            <a:ext cx="0" cy="2665413"/>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 name="Line 28">
            <a:extLst>
              <a:ext uri="{FF2B5EF4-FFF2-40B4-BE49-F238E27FC236}">
                <a16:creationId xmlns:a16="http://schemas.microsoft.com/office/drawing/2014/main" id="{CD9990BD-E19A-FC60-63A7-4B3667437B2C}"/>
              </a:ext>
            </a:extLst>
          </p:cNvPr>
          <p:cNvSpPr>
            <a:spLocks noChangeShapeType="1"/>
          </p:cNvSpPr>
          <p:nvPr/>
        </p:nvSpPr>
        <p:spPr bwMode="auto">
          <a:xfrm>
            <a:off x="1059656" y="2351425"/>
            <a:ext cx="100726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 name="Rectangle 30">
            <a:extLst>
              <a:ext uri="{FF2B5EF4-FFF2-40B4-BE49-F238E27FC236}">
                <a16:creationId xmlns:a16="http://schemas.microsoft.com/office/drawing/2014/main" id="{C34F824E-2471-FA2B-584C-B9F8F01DBAEB}"/>
              </a:ext>
            </a:extLst>
          </p:cNvPr>
          <p:cNvSpPr>
            <a:spLocks noChangeArrowheads="1"/>
          </p:cNvSpPr>
          <p:nvPr/>
        </p:nvSpPr>
        <p:spPr bwMode="auto">
          <a:xfrm>
            <a:off x="7863681" y="2394288"/>
            <a:ext cx="11255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Calibri" panose="020F0502020204030204" pitchFamily="34" charset="0"/>
              </a:rPr>
              <a:t>Logic Apps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 name="Rectangle 31">
            <a:extLst>
              <a:ext uri="{FF2B5EF4-FFF2-40B4-BE49-F238E27FC236}">
                <a16:creationId xmlns:a16="http://schemas.microsoft.com/office/drawing/2014/main" id="{A3C53EF9-F357-A712-7040-35310D55FC00}"/>
              </a:ext>
            </a:extLst>
          </p:cNvPr>
          <p:cNvSpPr>
            <a:spLocks noChangeArrowheads="1"/>
          </p:cNvSpPr>
          <p:nvPr/>
        </p:nvSpPr>
        <p:spPr bwMode="auto">
          <a:xfrm>
            <a:off x="4510881" y="2394288"/>
            <a:ext cx="18621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Calibri" panose="020F0502020204030204" pitchFamily="34" charset="0"/>
              </a:rPr>
              <a:t>Azure Automation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Rectangle 32">
            <a:extLst>
              <a:ext uri="{FF2B5EF4-FFF2-40B4-BE49-F238E27FC236}">
                <a16:creationId xmlns:a16="http://schemas.microsoft.com/office/drawing/2014/main" id="{ADBFF96A-B2A9-8391-CB4E-71D68AB0DE22}"/>
              </a:ext>
            </a:extLst>
          </p:cNvPr>
          <p:cNvSpPr>
            <a:spLocks noChangeArrowheads="1"/>
          </p:cNvSpPr>
          <p:nvPr/>
        </p:nvSpPr>
        <p:spPr bwMode="auto">
          <a:xfrm>
            <a:off x="1158081" y="2394288"/>
            <a:ext cx="16351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Calibri" panose="020F0502020204030204" pitchFamily="34" charset="0"/>
              </a:rPr>
              <a:t>Azure Functions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71" name="Group 70">
            <a:extLst>
              <a:ext uri="{FF2B5EF4-FFF2-40B4-BE49-F238E27FC236}">
                <a16:creationId xmlns:a16="http://schemas.microsoft.com/office/drawing/2014/main" id="{32E0A506-FE8E-6DA2-FA5F-488FA0BB16F2}"/>
              </a:ext>
            </a:extLst>
          </p:cNvPr>
          <p:cNvGrpSpPr/>
          <p:nvPr/>
        </p:nvGrpSpPr>
        <p:grpSpPr>
          <a:xfrm>
            <a:off x="1059656" y="2716550"/>
            <a:ext cx="10072688" cy="657225"/>
            <a:chOff x="1059656" y="2716550"/>
            <a:chExt cx="10072688" cy="657225"/>
          </a:xfrm>
        </p:grpSpPr>
        <p:sp>
          <p:nvSpPr>
            <p:cNvPr id="14" name="Rectangle 8">
              <a:extLst>
                <a:ext uri="{FF2B5EF4-FFF2-40B4-BE49-F238E27FC236}">
                  <a16:creationId xmlns:a16="http://schemas.microsoft.com/office/drawing/2014/main" id="{F3E7339E-3037-EB0A-681B-28DEE90ABE08}"/>
                </a:ext>
              </a:extLst>
            </p:cNvPr>
            <p:cNvSpPr>
              <a:spLocks noChangeArrowheads="1"/>
            </p:cNvSpPr>
            <p:nvPr/>
          </p:nvSpPr>
          <p:spPr bwMode="auto">
            <a:xfrm>
              <a:off x="1066006" y="2716550"/>
              <a:ext cx="3352800" cy="641350"/>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5" name="Rectangle 9">
              <a:extLst>
                <a:ext uri="{FF2B5EF4-FFF2-40B4-BE49-F238E27FC236}">
                  <a16:creationId xmlns:a16="http://schemas.microsoft.com/office/drawing/2014/main" id="{2982F678-1B54-DF9D-51AB-1A418E94FFAB}"/>
                </a:ext>
              </a:extLst>
            </p:cNvPr>
            <p:cNvSpPr>
              <a:spLocks noChangeArrowheads="1"/>
            </p:cNvSpPr>
            <p:nvPr/>
          </p:nvSpPr>
          <p:spPr bwMode="auto">
            <a:xfrm>
              <a:off x="4418806" y="2718138"/>
              <a:ext cx="3352800" cy="639763"/>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Rectangle 10">
              <a:extLst>
                <a:ext uri="{FF2B5EF4-FFF2-40B4-BE49-F238E27FC236}">
                  <a16:creationId xmlns:a16="http://schemas.microsoft.com/office/drawing/2014/main" id="{C959F6F4-FB1B-A3A3-F3B6-098181FC2CD6}"/>
                </a:ext>
              </a:extLst>
            </p:cNvPr>
            <p:cNvSpPr>
              <a:spLocks noChangeArrowheads="1"/>
            </p:cNvSpPr>
            <p:nvPr/>
          </p:nvSpPr>
          <p:spPr bwMode="auto">
            <a:xfrm>
              <a:off x="7771606" y="2718138"/>
              <a:ext cx="3354388" cy="639763"/>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Line 22">
              <a:extLst>
                <a:ext uri="{FF2B5EF4-FFF2-40B4-BE49-F238E27FC236}">
                  <a16:creationId xmlns:a16="http://schemas.microsoft.com/office/drawing/2014/main" id="{3C7C4F41-2E1B-3F95-16B6-E5AEB3F63FCE}"/>
                </a:ext>
              </a:extLst>
            </p:cNvPr>
            <p:cNvSpPr>
              <a:spLocks noChangeShapeType="1"/>
            </p:cNvSpPr>
            <p:nvPr/>
          </p:nvSpPr>
          <p:spPr bwMode="auto">
            <a:xfrm>
              <a:off x="1059656" y="2718138"/>
              <a:ext cx="10072688" cy="0"/>
            </a:xfrm>
            <a:prstGeom prst="line">
              <a:avLst/>
            </a:prstGeom>
            <a:noFill/>
            <a:ln w="381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 name="Rectangle 33">
              <a:extLst>
                <a:ext uri="{FF2B5EF4-FFF2-40B4-BE49-F238E27FC236}">
                  <a16:creationId xmlns:a16="http://schemas.microsoft.com/office/drawing/2014/main" id="{69753024-D6AF-81B2-9205-FE111541CB34}"/>
                </a:ext>
              </a:extLst>
            </p:cNvPr>
            <p:cNvSpPr>
              <a:spLocks noChangeArrowheads="1"/>
            </p:cNvSpPr>
            <p:nvPr/>
          </p:nvSpPr>
          <p:spPr bwMode="auto">
            <a:xfrm>
              <a:off x="7863681" y="2759413"/>
              <a:ext cx="3873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No</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34">
              <a:extLst>
                <a:ext uri="{FF2B5EF4-FFF2-40B4-BE49-F238E27FC236}">
                  <a16:creationId xmlns:a16="http://schemas.microsoft.com/office/drawing/2014/main" id="{7EC0D164-0684-5D7F-BA6C-B64A0E89A13E}"/>
                </a:ext>
              </a:extLst>
            </p:cNvPr>
            <p:cNvSpPr>
              <a:spLocks noChangeArrowheads="1"/>
            </p:cNvSpPr>
            <p:nvPr/>
          </p:nvSpPr>
          <p:spPr bwMode="auto">
            <a:xfrm>
              <a:off x="8131968" y="2759413"/>
              <a:ext cx="1905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35">
              <a:extLst>
                <a:ext uri="{FF2B5EF4-FFF2-40B4-BE49-F238E27FC236}">
                  <a16:creationId xmlns:a16="http://schemas.microsoft.com/office/drawing/2014/main" id="{2503B8DD-200B-C34F-1E3C-E2F0019E10C0}"/>
                </a:ext>
              </a:extLst>
            </p:cNvPr>
            <p:cNvSpPr>
              <a:spLocks noChangeArrowheads="1"/>
            </p:cNvSpPr>
            <p:nvPr/>
          </p:nvSpPr>
          <p:spPr bwMode="auto">
            <a:xfrm>
              <a:off x="8203406" y="2759413"/>
              <a:ext cx="595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alibri" panose="020F0502020204030204" pitchFamily="34" charset="0"/>
                </a:rPr>
                <a:t>Code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2" name="Rectangle 36">
              <a:extLst>
                <a:ext uri="{FF2B5EF4-FFF2-40B4-BE49-F238E27FC236}">
                  <a16:creationId xmlns:a16="http://schemas.microsoft.com/office/drawing/2014/main" id="{7C270D2C-25A4-C560-786E-D3E2212C4D71}"/>
                </a:ext>
              </a:extLst>
            </p:cNvPr>
            <p:cNvSpPr>
              <a:spLocks noChangeArrowheads="1"/>
            </p:cNvSpPr>
            <p:nvPr/>
          </p:nvSpPr>
          <p:spPr bwMode="auto">
            <a:xfrm>
              <a:off x="8679656" y="2759413"/>
              <a:ext cx="2079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37">
              <a:extLst>
                <a:ext uri="{FF2B5EF4-FFF2-40B4-BE49-F238E27FC236}">
                  <a16:creationId xmlns:a16="http://schemas.microsoft.com/office/drawing/2014/main" id="{81F1F494-1A1D-28DE-737E-05FB627DE094}"/>
                </a:ext>
              </a:extLst>
            </p:cNvPr>
            <p:cNvSpPr>
              <a:spLocks noChangeArrowheads="1"/>
            </p:cNvSpPr>
            <p:nvPr/>
          </p:nvSpPr>
          <p:spPr bwMode="auto">
            <a:xfrm>
              <a:off x="8768556" y="2759413"/>
              <a:ext cx="5000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Low</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38">
              <a:extLst>
                <a:ext uri="{FF2B5EF4-FFF2-40B4-BE49-F238E27FC236}">
                  <a16:creationId xmlns:a16="http://schemas.microsoft.com/office/drawing/2014/main" id="{7711EA5F-CFFD-3A16-8F52-8AF9976E51DB}"/>
                </a:ext>
              </a:extLst>
            </p:cNvPr>
            <p:cNvSpPr>
              <a:spLocks noChangeArrowheads="1"/>
            </p:cNvSpPr>
            <p:nvPr/>
          </p:nvSpPr>
          <p:spPr bwMode="auto">
            <a:xfrm>
              <a:off x="9146381" y="2759413"/>
              <a:ext cx="1889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39">
              <a:extLst>
                <a:ext uri="{FF2B5EF4-FFF2-40B4-BE49-F238E27FC236}">
                  <a16:creationId xmlns:a16="http://schemas.microsoft.com/office/drawing/2014/main" id="{60AF6BFA-B903-7B8B-AD74-287C9E35B962}"/>
                </a:ext>
              </a:extLst>
            </p:cNvPr>
            <p:cNvSpPr>
              <a:spLocks noChangeArrowheads="1"/>
            </p:cNvSpPr>
            <p:nvPr/>
          </p:nvSpPr>
          <p:spPr bwMode="auto">
            <a:xfrm>
              <a:off x="9216231" y="2759413"/>
              <a:ext cx="16367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alibri" panose="020F0502020204030204" pitchFamily="34" charset="0"/>
                </a:rPr>
                <a:t>Code option for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6" name="Rectangle 40">
              <a:extLst>
                <a:ext uri="{FF2B5EF4-FFF2-40B4-BE49-F238E27FC236}">
                  <a16:creationId xmlns:a16="http://schemas.microsoft.com/office/drawing/2014/main" id="{461759F8-94E7-2A5B-3F70-FD63F74AB863}"/>
                </a:ext>
              </a:extLst>
            </p:cNvPr>
            <p:cNvSpPr>
              <a:spLocks noChangeArrowheads="1"/>
            </p:cNvSpPr>
            <p:nvPr/>
          </p:nvSpPr>
          <p:spPr bwMode="auto">
            <a:xfrm>
              <a:off x="7863681" y="3034050"/>
              <a:ext cx="21605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alibri" panose="020F0502020204030204" pitchFamily="34" charset="0"/>
                </a:rPr>
                <a:t>automating processes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7" name="Rectangle 41">
              <a:extLst>
                <a:ext uri="{FF2B5EF4-FFF2-40B4-BE49-F238E27FC236}">
                  <a16:creationId xmlns:a16="http://schemas.microsoft.com/office/drawing/2014/main" id="{79858492-4BE7-BFB0-0CF4-53F2CF00904C}"/>
                </a:ext>
              </a:extLst>
            </p:cNvPr>
            <p:cNvSpPr>
              <a:spLocks noChangeArrowheads="1"/>
            </p:cNvSpPr>
            <p:nvPr/>
          </p:nvSpPr>
          <p:spPr bwMode="auto">
            <a:xfrm>
              <a:off x="4510881" y="2759413"/>
              <a:ext cx="3121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Automate administration scripts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42">
              <a:extLst>
                <a:ext uri="{FF2B5EF4-FFF2-40B4-BE49-F238E27FC236}">
                  <a16:creationId xmlns:a16="http://schemas.microsoft.com/office/drawing/2014/main" id="{262E65C0-5670-29EA-4760-D2A3EC148890}"/>
                </a:ext>
              </a:extLst>
            </p:cNvPr>
            <p:cNvSpPr>
              <a:spLocks noChangeArrowheads="1"/>
            </p:cNvSpPr>
            <p:nvPr/>
          </p:nvSpPr>
          <p:spPr bwMode="auto">
            <a:xfrm>
              <a:off x="1158081" y="2759413"/>
              <a:ext cx="22129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alibri" panose="020F0502020204030204" pitchFamily="34" charset="0"/>
                </a:rPr>
                <a:t>Run event driven code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grpSp>
        <p:nvGrpSpPr>
          <p:cNvPr id="70" name="Group 69">
            <a:extLst>
              <a:ext uri="{FF2B5EF4-FFF2-40B4-BE49-F238E27FC236}">
                <a16:creationId xmlns:a16="http://schemas.microsoft.com/office/drawing/2014/main" id="{17C46906-1E32-61DC-E3B9-9764F9169E2C}"/>
              </a:ext>
            </a:extLst>
          </p:cNvPr>
          <p:cNvGrpSpPr/>
          <p:nvPr/>
        </p:nvGrpSpPr>
        <p:grpSpPr>
          <a:xfrm>
            <a:off x="1059656" y="3357900"/>
            <a:ext cx="10072688" cy="381001"/>
            <a:chOff x="1059656" y="3357900"/>
            <a:chExt cx="10072688" cy="381001"/>
          </a:xfrm>
        </p:grpSpPr>
        <p:sp>
          <p:nvSpPr>
            <p:cNvPr id="17" name="Rectangle 11">
              <a:extLst>
                <a:ext uri="{FF2B5EF4-FFF2-40B4-BE49-F238E27FC236}">
                  <a16:creationId xmlns:a16="http://schemas.microsoft.com/office/drawing/2014/main" id="{0066ABC4-20CB-7517-E29A-89CEC27E94C0}"/>
                </a:ext>
              </a:extLst>
            </p:cNvPr>
            <p:cNvSpPr>
              <a:spLocks noChangeArrowheads="1"/>
            </p:cNvSpPr>
            <p:nvPr/>
          </p:nvSpPr>
          <p:spPr bwMode="auto">
            <a:xfrm>
              <a:off x="1066006" y="3357900"/>
              <a:ext cx="3352800" cy="365125"/>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8" name="Rectangle 12">
              <a:extLst>
                <a:ext uri="{FF2B5EF4-FFF2-40B4-BE49-F238E27FC236}">
                  <a16:creationId xmlns:a16="http://schemas.microsoft.com/office/drawing/2014/main" id="{E92B5B0E-3C64-772D-C105-EAA0A5E69712}"/>
                </a:ext>
              </a:extLst>
            </p:cNvPr>
            <p:cNvSpPr>
              <a:spLocks noChangeArrowheads="1"/>
            </p:cNvSpPr>
            <p:nvPr/>
          </p:nvSpPr>
          <p:spPr bwMode="auto">
            <a:xfrm>
              <a:off x="4418806" y="3357900"/>
              <a:ext cx="3352800" cy="365125"/>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Rectangle 13">
              <a:extLst>
                <a:ext uri="{FF2B5EF4-FFF2-40B4-BE49-F238E27FC236}">
                  <a16:creationId xmlns:a16="http://schemas.microsoft.com/office/drawing/2014/main" id="{D321039A-BAF3-DCB3-2D4F-47CA023285C0}"/>
                </a:ext>
              </a:extLst>
            </p:cNvPr>
            <p:cNvSpPr>
              <a:spLocks noChangeArrowheads="1"/>
            </p:cNvSpPr>
            <p:nvPr/>
          </p:nvSpPr>
          <p:spPr bwMode="auto">
            <a:xfrm>
              <a:off x="7771606" y="3357900"/>
              <a:ext cx="3354388" cy="365125"/>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Line 23">
              <a:extLst>
                <a:ext uri="{FF2B5EF4-FFF2-40B4-BE49-F238E27FC236}">
                  <a16:creationId xmlns:a16="http://schemas.microsoft.com/office/drawing/2014/main" id="{47F9753A-32BD-0BFC-79A5-7533462D2B88}"/>
                </a:ext>
              </a:extLst>
            </p:cNvPr>
            <p:cNvSpPr>
              <a:spLocks noChangeShapeType="1"/>
            </p:cNvSpPr>
            <p:nvPr/>
          </p:nvSpPr>
          <p:spPr bwMode="auto">
            <a:xfrm>
              <a:off x="1059656" y="3357900"/>
              <a:ext cx="100726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 name="Rectangle 43">
              <a:extLst>
                <a:ext uri="{FF2B5EF4-FFF2-40B4-BE49-F238E27FC236}">
                  <a16:creationId xmlns:a16="http://schemas.microsoft.com/office/drawing/2014/main" id="{3405200D-8F74-2F56-1A1D-8707EC5D71A2}"/>
                </a:ext>
              </a:extLst>
            </p:cNvPr>
            <p:cNvSpPr>
              <a:spLocks noChangeArrowheads="1"/>
            </p:cNvSpPr>
            <p:nvPr/>
          </p:nvSpPr>
          <p:spPr bwMode="auto">
            <a:xfrm>
              <a:off x="7863681" y="3397588"/>
              <a:ext cx="10334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Workflow</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44">
              <a:extLst>
                <a:ext uri="{FF2B5EF4-FFF2-40B4-BE49-F238E27FC236}">
                  <a16:creationId xmlns:a16="http://schemas.microsoft.com/office/drawing/2014/main" id="{30290F60-F500-E16F-E586-97EE8F524557}"/>
                </a:ext>
              </a:extLst>
            </p:cNvPr>
            <p:cNvSpPr>
              <a:spLocks noChangeArrowheads="1"/>
            </p:cNvSpPr>
            <p:nvPr/>
          </p:nvSpPr>
          <p:spPr bwMode="auto">
            <a:xfrm>
              <a:off x="8765381" y="3397588"/>
              <a:ext cx="18891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45">
              <a:extLst>
                <a:ext uri="{FF2B5EF4-FFF2-40B4-BE49-F238E27FC236}">
                  <a16:creationId xmlns:a16="http://schemas.microsoft.com/office/drawing/2014/main" id="{6195F040-70F6-82D0-4D4B-C149E854DCBD}"/>
                </a:ext>
              </a:extLst>
            </p:cNvPr>
            <p:cNvSpPr>
              <a:spLocks noChangeArrowheads="1"/>
            </p:cNvSpPr>
            <p:nvPr/>
          </p:nvSpPr>
          <p:spPr bwMode="auto">
            <a:xfrm>
              <a:off x="8835231" y="3397588"/>
              <a:ext cx="70961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driven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46">
              <a:extLst>
                <a:ext uri="{FF2B5EF4-FFF2-40B4-BE49-F238E27FC236}">
                  <a16:creationId xmlns:a16="http://schemas.microsoft.com/office/drawing/2014/main" id="{BBA605C8-09F9-1182-2B08-F7621F421AA4}"/>
                </a:ext>
              </a:extLst>
            </p:cNvPr>
            <p:cNvSpPr>
              <a:spLocks noChangeArrowheads="1"/>
            </p:cNvSpPr>
            <p:nvPr/>
          </p:nvSpPr>
          <p:spPr bwMode="auto">
            <a:xfrm>
              <a:off x="4510881" y="3397588"/>
              <a:ext cx="188595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Schedule or trigger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 name="Rectangle 47">
              <a:extLst>
                <a:ext uri="{FF2B5EF4-FFF2-40B4-BE49-F238E27FC236}">
                  <a16:creationId xmlns:a16="http://schemas.microsoft.com/office/drawing/2014/main" id="{41ED96E9-DEDC-1B34-7BA9-53A853C9C391}"/>
                </a:ext>
              </a:extLst>
            </p:cNvPr>
            <p:cNvSpPr>
              <a:spLocks noChangeArrowheads="1"/>
            </p:cNvSpPr>
            <p:nvPr/>
          </p:nvSpPr>
          <p:spPr bwMode="auto">
            <a:xfrm>
              <a:off x="1158081" y="3397588"/>
              <a:ext cx="6445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Event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 name="Rectangle 48">
              <a:extLst>
                <a:ext uri="{FF2B5EF4-FFF2-40B4-BE49-F238E27FC236}">
                  <a16:creationId xmlns:a16="http://schemas.microsoft.com/office/drawing/2014/main" id="{D12AAED6-6AD3-85B7-235A-B1B91B634851}"/>
                </a:ext>
              </a:extLst>
            </p:cNvPr>
            <p:cNvSpPr>
              <a:spLocks noChangeArrowheads="1"/>
            </p:cNvSpPr>
            <p:nvPr/>
          </p:nvSpPr>
          <p:spPr bwMode="auto">
            <a:xfrm>
              <a:off x="1677193" y="3397588"/>
              <a:ext cx="18891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49">
              <a:extLst>
                <a:ext uri="{FF2B5EF4-FFF2-40B4-BE49-F238E27FC236}">
                  <a16:creationId xmlns:a16="http://schemas.microsoft.com/office/drawing/2014/main" id="{4055EFB7-5D1B-B5C2-B90A-1FD0D05D027B}"/>
                </a:ext>
              </a:extLst>
            </p:cNvPr>
            <p:cNvSpPr>
              <a:spLocks noChangeArrowheads="1"/>
            </p:cNvSpPr>
            <p:nvPr/>
          </p:nvSpPr>
          <p:spPr bwMode="auto">
            <a:xfrm>
              <a:off x="1747043" y="3397588"/>
              <a:ext cx="7080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driven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69" name="Group 68">
            <a:extLst>
              <a:ext uri="{FF2B5EF4-FFF2-40B4-BE49-F238E27FC236}">
                <a16:creationId xmlns:a16="http://schemas.microsoft.com/office/drawing/2014/main" id="{C5790A30-562D-F24F-4A73-21415213028D}"/>
              </a:ext>
            </a:extLst>
          </p:cNvPr>
          <p:cNvGrpSpPr/>
          <p:nvPr/>
        </p:nvGrpSpPr>
        <p:grpSpPr>
          <a:xfrm>
            <a:off x="1059656" y="3723025"/>
            <a:ext cx="10072688" cy="657225"/>
            <a:chOff x="1059656" y="3723025"/>
            <a:chExt cx="10072688" cy="657225"/>
          </a:xfrm>
        </p:grpSpPr>
        <p:sp>
          <p:nvSpPr>
            <p:cNvPr id="20" name="Rectangle 14">
              <a:extLst>
                <a:ext uri="{FF2B5EF4-FFF2-40B4-BE49-F238E27FC236}">
                  <a16:creationId xmlns:a16="http://schemas.microsoft.com/office/drawing/2014/main" id="{05FE7E3B-C140-3AA1-4B86-D434C84A275C}"/>
                </a:ext>
              </a:extLst>
            </p:cNvPr>
            <p:cNvSpPr>
              <a:spLocks noChangeArrowheads="1"/>
            </p:cNvSpPr>
            <p:nvPr/>
          </p:nvSpPr>
          <p:spPr bwMode="auto">
            <a:xfrm>
              <a:off x="1066006" y="3723025"/>
              <a:ext cx="3352800" cy="641350"/>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1" name="Rectangle 15">
              <a:extLst>
                <a:ext uri="{FF2B5EF4-FFF2-40B4-BE49-F238E27FC236}">
                  <a16:creationId xmlns:a16="http://schemas.microsoft.com/office/drawing/2014/main" id="{C45109CE-D47B-1F06-C992-14C07B5F48EC}"/>
                </a:ext>
              </a:extLst>
            </p:cNvPr>
            <p:cNvSpPr>
              <a:spLocks noChangeArrowheads="1"/>
            </p:cNvSpPr>
            <p:nvPr/>
          </p:nvSpPr>
          <p:spPr bwMode="auto">
            <a:xfrm>
              <a:off x="4418806" y="3723025"/>
              <a:ext cx="3352800" cy="641350"/>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Rectangle 16">
              <a:extLst>
                <a:ext uri="{FF2B5EF4-FFF2-40B4-BE49-F238E27FC236}">
                  <a16:creationId xmlns:a16="http://schemas.microsoft.com/office/drawing/2014/main" id="{1AC51948-42D7-8150-EEFF-738751CE4DFA}"/>
                </a:ext>
              </a:extLst>
            </p:cNvPr>
            <p:cNvSpPr>
              <a:spLocks noChangeArrowheads="1"/>
            </p:cNvSpPr>
            <p:nvPr/>
          </p:nvSpPr>
          <p:spPr bwMode="auto">
            <a:xfrm>
              <a:off x="7771606" y="3723025"/>
              <a:ext cx="3354388" cy="641350"/>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Line 24">
              <a:extLst>
                <a:ext uri="{FF2B5EF4-FFF2-40B4-BE49-F238E27FC236}">
                  <a16:creationId xmlns:a16="http://schemas.microsoft.com/office/drawing/2014/main" id="{F4016486-706E-3485-142A-3C7DEB21F68C}"/>
                </a:ext>
              </a:extLst>
            </p:cNvPr>
            <p:cNvSpPr>
              <a:spLocks noChangeShapeType="1"/>
            </p:cNvSpPr>
            <p:nvPr/>
          </p:nvSpPr>
          <p:spPr bwMode="auto">
            <a:xfrm>
              <a:off x="1059656" y="3723025"/>
              <a:ext cx="100726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 name="Rectangle 50">
              <a:extLst>
                <a:ext uri="{FF2B5EF4-FFF2-40B4-BE49-F238E27FC236}">
                  <a16:creationId xmlns:a16="http://schemas.microsoft.com/office/drawing/2014/main" id="{96E5B93E-7C3D-8402-4CF0-039023D38E4B}"/>
                </a:ext>
              </a:extLst>
            </p:cNvPr>
            <p:cNvSpPr>
              <a:spLocks noChangeArrowheads="1"/>
            </p:cNvSpPr>
            <p:nvPr/>
          </p:nvSpPr>
          <p:spPr bwMode="auto">
            <a:xfrm>
              <a:off x="7863681" y="3765888"/>
              <a:ext cx="2328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alibri" panose="020F0502020204030204" pitchFamily="34" charset="0"/>
                </a:rPr>
                <a:t>Easy to use for business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7" name="Rectangle 51">
              <a:extLst>
                <a:ext uri="{FF2B5EF4-FFF2-40B4-BE49-F238E27FC236}">
                  <a16:creationId xmlns:a16="http://schemas.microsoft.com/office/drawing/2014/main" id="{2DF87A34-7463-4054-C653-E402F36B9B55}"/>
                </a:ext>
              </a:extLst>
            </p:cNvPr>
            <p:cNvSpPr>
              <a:spLocks noChangeArrowheads="1"/>
            </p:cNvSpPr>
            <p:nvPr/>
          </p:nvSpPr>
          <p:spPr bwMode="auto">
            <a:xfrm>
              <a:off x="4510881" y="3765888"/>
              <a:ext cx="23542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Great for infrastructure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 name="Rectangle 52">
              <a:extLst>
                <a:ext uri="{FF2B5EF4-FFF2-40B4-BE49-F238E27FC236}">
                  <a16:creationId xmlns:a16="http://schemas.microsoft.com/office/drawing/2014/main" id="{0BBCB114-4710-707D-D4FE-F4957281D314}"/>
                </a:ext>
              </a:extLst>
            </p:cNvPr>
            <p:cNvSpPr>
              <a:spLocks noChangeArrowheads="1"/>
            </p:cNvSpPr>
            <p:nvPr/>
          </p:nvSpPr>
          <p:spPr bwMode="auto">
            <a:xfrm>
              <a:off x="4510881" y="4040525"/>
              <a:ext cx="12080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automation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Rectangle 53">
              <a:extLst>
                <a:ext uri="{FF2B5EF4-FFF2-40B4-BE49-F238E27FC236}">
                  <a16:creationId xmlns:a16="http://schemas.microsoft.com/office/drawing/2014/main" id="{C47AC4C9-204E-D280-FE98-563371ACB78F}"/>
                </a:ext>
              </a:extLst>
            </p:cNvPr>
            <p:cNvSpPr>
              <a:spLocks noChangeArrowheads="1"/>
            </p:cNvSpPr>
            <p:nvPr/>
          </p:nvSpPr>
          <p:spPr bwMode="auto">
            <a:xfrm>
              <a:off x="1158081" y="3765888"/>
              <a:ext cx="18240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Massively scalable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68" name="Group 67">
            <a:extLst>
              <a:ext uri="{FF2B5EF4-FFF2-40B4-BE49-F238E27FC236}">
                <a16:creationId xmlns:a16="http://schemas.microsoft.com/office/drawing/2014/main" id="{72852E33-C429-C548-2D69-17568DE9B8D8}"/>
              </a:ext>
            </a:extLst>
          </p:cNvPr>
          <p:cNvGrpSpPr/>
          <p:nvPr/>
        </p:nvGrpSpPr>
        <p:grpSpPr>
          <a:xfrm>
            <a:off x="1059656" y="4364375"/>
            <a:ext cx="10072688" cy="655638"/>
            <a:chOff x="1059656" y="4364375"/>
            <a:chExt cx="10072688" cy="655638"/>
          </a:xfrm>
        </p:grpSpPr>
        <p:sp>
          <p:nvSpPr>
            <p:cNvPr id="23" name="Rectangle 17">
              <a:extLst>
                <a:ext uri="{FF2B5EF4-FFF2-40B4-BE49-F238E27FC236}">
                  <a16:creationId xmlns:a16="http://schemas.microsoft.com/office/drawing/2014/main" id="{34ECAFEC-5413-4206-DB62-D8E362158AB9}"/>
                </a:ext>
              </a:extLst>
            </p:cNvPr>
            <p:cNvSpPr>
              <a:spLocks noChangeArrowheads="1"/>
            </p:cNvSpPr>
            <p:nvPr/>
          </p:nvSpPr>
          <p:spPr bwMode="auto">
            <a:xfrm>
              <a:off x="1066006" y="4364375"/>
              <a:ext cx="3352800"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4" name="Rectangle 18">
              <a:extLst>
                <a:ext uri="{FF2B5EF4-FFF2-40B4-BE49-F238E27FC236}">
                  <a16:creationId xmlns:a16="http://schemas.microsoft.com/office/drawing/2014/main" id="{391A5A1B-266C-1297-8CE2-317C61FEA6E3}"/>
                </a:ext>
              </a:extLst>
            </p:cNvPr>
            <p:cNvSpPr>
              <a:spLocks noChangeArrowheads="1"/>
            </p:cNvSpPr>
            <p:nvPr/>
          </p:nvSpPr>
          <p:spPr bwMode="auto">
            <a:xfrm>
              <a:off x="4418806" y="4364375"/>
              <a:ext cx="3352800"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Rectangle 19">
              <a:extLst>
                <a:ext uri="{FF2B5EF4-FFF2-40B4-BE49-F238E27FC236}">
                  <a16:creationId xmlns:a16="http://schemas.microsoft.com/office/drawing/2014/main" id="{C8B16576-25D1-7D03-D3CE-6F1DC48142D0}"/>
                </a:ext>
              </a:extLst>
            </p:cNvPr>
            <p:cNvSpPr>
              <a:spLocks noChangeArrowheads="1"/>
            </p:cNvSpPr>
            <p:nvPr/>
          </p:nvSpPr>
          <p:spPr bwMode="auto">
            <a:xfrm>
              <a:off x="7771606" y="4364375"/>
              <a:ext cx="3354388"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1" name="Line 25">
              <a:extLst>
                <a:ext uri="{FF2B5EF4-FFF2-40B4-BE49-F238E27FC236}">
                  <a16:creationId xmlns:a16="http://schemas.microsoft.com/office/drawing/2014/main" id="{83007716-0E2B-6953-1A29-CDCEE8B1F0B5}"/>
                </a:ext>
              </a:extLst>
            </p:cNvPr>
            <p:cNvSpPr>
              <a:spLocks noChangeShapeType="1"/>
            </p:cNvSpPr>
            <p:nvPr/>
          </p:nvSpPr>
          <p:spPr bwMode="auto">
            <a:xfrm>
              <a:off x="1059656" y="4364375"/>
              <a:ext cx="100726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 name="Line 29">
              <a:extLst>
                <a:ext uri="{FF2B5EF4-FFF2-40B4-BE49-F238E27FC236}">
                  <a16:creationId xmlns:a16="http://schemas.microsoft.com/office/drawing/2014/main" id="{88D7B543-B250-378F-8681-B2349D912311}"/>
                </a:ext>
              </a:extLst>
            </p:cNvPr>
            <p:cNvSpPr>
              <a:spLocks noChangeShapeType="1"/>
            </p:cNvSpPr>
            <p:nvPr/>
          </p:nvSpPr>
          <p:spPr bwMode="auto">
            <a:xfrm>
              <a:off x="1059656" y="5004138"/>
              <a:ext cx="100726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0" name="Rectangle 54">
              <a:extLst>
                <a:ext uri="{FF2B5EF4-FFF2-40B4-BE49-F238E27FC236}">
                  <a16:creationId xmlns:a16="http://schemas.microsoft.com/office/drawing/2014/main" id="{26DEDD1D-0F83-7530-D856-60597E6BF770}"/>
                </a:ext>
              </a:extLst>
            </p:cNvPr>
            <p:cNvSpPr>
              <a:spLocks noChangeArrowheads="1"/>
            </p:cNvSpPr>
            <p:nvPr/>
          </p:nvSpPr>
          <p:spPr bwMode="auto">
            <a:xfrm>
              <a:off x="7863681" y="4404063"/>
              <a:ext cx="15240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Cost per action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 name="Rectangle 55">
              <a:extLst>
                <a:ext uri="{FF2B5EF4-FFF2-40B4-BE49-F238E27FC236}">
                  <a16:creationId xmlns:a16="http://schemas.microsoft.com/office/drawing/2014/main" id="{E14F6D7B-B65F-FB0A-7AD8-B71C4D7F55F3}"/>
                </a:ext>
              </a:extLst>
            </p:cNvPr>
            <p:cNvSpPr>
              <a:spLocks noChangeArrowheads="1"/>
            </p:cNvSpPr>
            <p:nvPr/>
          </p:nvSpPr>
          <p:spPr bwMode="auto">
            <a:xfrm>
              <a:off x="4510881" y="4404063"/>
              <a:ext cx="31718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Cost per minute of job execution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 name="Rectangle 56">
              <a:extLst>
                <a:ext uri="{FF2B5EF4-FFF2-40B4-BE49-F238E27FC236}">
                  <a16:creationId xmlns:a16="http://schemas.microsoft.com/office/drawing/2014/main" id="{99C48873-9E46-CA98-50CA-A8F9E342DBD6}"/>
                </a:ext>
              </a:extLst>
            </p:cNvPr>
            <p:cNvSpPr>
              <a:spLocks noChangeArrowheads="1"/>
            </p:cNvSpPr>
            <p:nvPr/>
          </p:nvSpPr>
          <p:spPr bwMode="auto">
            <a:xfrm>
              <a:off x="1158081" y="4404063"/>
              <a:ext cx="28178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Cost per second of execution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 name="Rectangle 57">
              <a:extLst>
                <a:ext uri="{FF2B5EF4-FFF2-40B4-BE49-F238E27FC236}">
                  <a16:creationId xmlns:a16="http://schemas.microsoft.com/office/drawing/2014/main" id="{6CEACC1B-82B6-0FBF-4E7F-BED784CFE6C5}"/>
                </a:ext>
              </a:extLst>
            </p:cNvPr>
            <p:cNvSpPr>
              <a:spLocks noChangeArrowheads="1"/>
            </p:cNvSpPr>
            <p:nvPr/>
          </p:nvSpPr>
          <p:spPr bwMode="auto">
            <a:xfrm>
              <a:off x="1158081" y="4680288"/>
              <a:ext cx="3149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Calibri" panose="020F0502020204030204" pitchFamily="34" charset="0"/>
                </a:rPr>
                <a:t>(extra costs over 1 million execs)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63301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C4603-F6EF-DF47-2D72-1036803A81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17141-D72A-098F-7CCE-7E0C9ABE987D}"/>
              </a:ext>
            </a:extLst>
          </p:cNvPr>
          <p:cNvSpPr>
            <a:spLocks noGrp="1"/>
          </p:cNvSpPr>
          <p:nvPr>
            <p:ph type="title"/>
          </p:nvPr>
        </p:nvSpPr>
        <p:spPr/>
        <p:txBody>
          <a:bodyPr>
            <a:normAutofit fontScale="90000"/>
          </a:bodyPr>
          <a:lstStyle/>
          <a:p>
            <a:r>
              <a:rPr lang="en-GB" dirty="0"/>
              <a:t>But where is our PowerShell now?</a:t>
            </a:r>
          </a:p>
        </p:txBody>
      </p:sp>
      <p:grpSp>
        <p:nvGrpSpPr>
          <p:cNvPr id="8" name="Group 7">
            <a:extLst>
              <a:ext uri="{FF2B5EF4-FFF2-40B4-BE49-F238E27FC236}">
                <a16:creationId xmlns:a16="http://schemas.microsoft.com/office/drawing/2014/main" id="{D7357F7D-45A5-1E8D-2273-4AC4ABA8C7D6}"/>
              </a:ext>
            </a:extLst>
          </p:cNvPr>
          <p:cNvGrpSpPr/>
          <p:nvPr/>
        </p:nvGrpSpPr>
        <p:grpSpPr>
          <a:xfrm>
            <a:off x="8252765" y="1814410"/>
            <a:ext cx="3202420" cy="3920646"/>
            <a:chOff x="8252765" y="1814410"/>
            <a:chExt cx="3202420" cy="3920646"/>
          </a:xfrm>
        </p:grpSpPr>
        <p:sp>
          <p:nvSpPr>
            <p:cNvPr id="7" name="Rectangle: Rounded Corners 6">
              <a:extLst>
                <a:ext uri="{FF2B5EF4-FFF2-40B4-BE49-F238E27FC236}">
                  <a16:creationId xmlns:a16="http://schemas.microsoft.com/office/drawing/2014/main" id="{4027FF52-1B19-7336-88DA-C26C7B553991}"/>
                </a:ext>
              </a:extLst>
            </p:cNvPr>
            <p:cNvSpPr/>
            <p:nvPr/>
          </p:nvSpPr>
          <p:spPr>
            <a:xfrm>
              <a:off x="8252765" y="1814410"/>
              <a:ext cx="3202420" cy="392064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4" name="Graphic 3">
              <a:extLst>
                <a:ext uri="{FF2B5EF4-FFF2-40B4-BE49-F238E27FC236}">
                  <a16:creationId xmlns:a16="http://schemas.microsoft.com/office/drawing/2014/main" id="{ED669107-5B78-77B9-8F84-5E0A295C61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33975" y="3051022"/>
              <a:ext cx="1440000" cy="1440000"/>
            </a:xfrm>
            <a:prstGeom prst="rect">
              <a:avLst/>
            </a:prstGeom>
          </p:spPr>
        </p:pic>
      </p:grpSp>
      <p:grpSp>
        <p:nvGrpSpPr>
          <p:cNvPr id="9" name="Group 8">
            <a:extLst>
              <a:ext uri="{FF2B5EF4-FFF2-40B4-BE49-F238E27FC236}">
                <a16:creationId xmlns:a16="http://schemas.microsoft.com/office/drawing/2014/main" id="{2A658DF7-6D3D-0B1F-30A0-915DE249226C}"/>
              </a:ext>
            </a:extLst>
          </p:cNvPr>
          <p:cNvGrpSpPr/>
          <p:nvPr/>
        </p:nvGrpSpPr>
        <p:grpSpPr>
          <a:xfrm>
            <a:off x="663879" y="1870533"/>
            <a:ext cx="3202420" cy="3920646"/>
            <a:chOff x="663879" y="1870533"/>
            <a:chExt cx="3202420" cy="3920646"/>
          </a:xfrm>
        </p:grpSpPr>
        <p:sp>
          <p:nvSpPr>
            <p:cNvPr id="5" name="Rectangle: Rounded Corners 4">
              <a:extLst>
                <a:ext uri="{FF2B5EF4-FFF2-40B4-BE49-F238E27FC236}">
                  <a16:creationId xmlns:a16="http://schemas.microsoft.com/office/drawing/2014/main" id="{133F95C6-A40C-305D-D9A2-34498FAE556E}"/>
                </a:ext>
              </a:extLst>
            </p:cNvPr>
            <p:cNvSpPr/>
            <p:nvPr/>
          </p:nvSpPr>
          <p:spPr>
            <a:xfrm>
              <a:off x="663879" y="1870533"/>
              <a:ext cx="3202420" cy="392064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032" name="Picture 8">
              <a:extLst>
                <a:ext uri="{FF2B5EF4-FFF2-40B4-BE49-F238E27FC236}">
                  <a16:creationId xmlns:a16="http://schemas.microsoft.com/office/drawing/2014/main" id="{9DC155D9-886D-39AC-AAD3-4CB9134AEA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5089" y="3261358"/>
              <a:ext cx="1440000" cy="10193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 9">
            <a:extLst>
              <a:ext uri="{FF2B5EF4-FFF2-40B4-BE49-F238E27FC236}">
                <a16:creationId xmlns:a16="http://schemas.microsoft.com/office/drawing/2014/main" id="{1072D9CC-4090-F57F-E16A-EB2B19DE074E}"/>
              </a:ext>
            </a:extLst>
          </p:cNvPr>
          <p:cNvGrpSpPr/>
          <p:nvPr/>
        </p:nvGrpSpPr>
        <p:grpSpPr>
          <a:xfrm>
            <a:off x="4477711" y="1870533"/>
            <a:ext cx="3202420" cy="3920646"/>
            <a:chOff x="4477711" y="1870533"/>
            <a:chExt cx="3202420" cy="3920646"/>
          </a:xfrm>
        </p:grpSpPr>
        <p:sp>
          <p:nvSpPr>
            <p:cNvPr id="6" name="Rectangle: Rounded Corners 5">
              <a:extLst>
                <a:ext uri="{FF2B5EF4-FFF2-40B4-BE49-F238E27FC236}">
                  <a16:creationId xmlns:a16="http://schemas.microsoft.com/office/drawing/2014/main" id="{7F31C7D0-4D9B-1245-9327-02053025D85E}"/>
                </a:ext>
              </a:extLst>
            </p:cNvPr>
            <p:cNvSpPr/>
            <p:nvPr/>
          </p:nvSpPr>
          <p:spPr>
            <a:xfrm>
              <a:off x="4477711" y="1870533"/>
              <a:ext cx="3202420" cy="3920646"/>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GB"/>
            </a:p>
          </p:txBody>
        </p:sp>
        <p:pic>
          <p:nvPicPr>
            <p:cNvPr id="1028" name="Picture 4">
              <a:extLst>
                <a:ext uri="{FF2B5EF4-FFF2-40B4-BE49-F238E27FC236}">
                  <a16:creationId xmlns:a16="http://schemas.microsoft.com/office/drawing/2014/main" id="{B2F97A66-A0C2-36AA-9F9D-8C9C7013F95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8511" r="18584"/>
            <a:stretch/>
          </p:blipFill>
          <p:spPr bwMode="auto">
            <a:xfrm>
              <a:off x="4824999" y="2227173"/>
              <a:ext cx="1440000" cy="120182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9DC270F-592C-E10D-95C0-F6BBDD9D0E98}"/>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1603" t="4246" r="20315" b="-4246"/>
            <a:stretch/>
          </p:blipFill>
          <p:spPr bwMode="auto">
            <a:xfrm>
              <a:off x="6003410" y="3180053"/>
              <a:ext cx="1440000" cy="130160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7C8D87B4-DD4F-3739-71AA-F6D94DDF6F82}"/>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2140" r="14536"/>
            <a:stretch/>
          </p:blipFill>
          <p:spPr bwMode="auto">
            <a:xfrm>
              <a:off x="4824999" y="4491022"/>
              <a:ext cx="1440000" cy="103104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680475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D8037-339F-2C58-5BDD-FBF78AC1FF03}"/>
              </a:ext>
            </a:extLst>
          </p:cNvPr>
          <p:cNvSpPr>
            <a:spLocks noGrp="1"/>
          </p:cNvSpPr>
          <p:nvPr>
            <p:ph type="title"/>
          </p:nvPr>
        </p:nvSpPr>
        <p:spPr/>
        <p:txBody>
          <a:bodyPr/>
          <a:lstStyle/>
          <a:p>
            <a:r>
              <a:rPr lang="en-GB" dirty="0"/>
              <a:t>Azure VM</a:t>
            </a:r>
          </a:p>
        </p:txBody>
      </p:sp>
      <p:sp>
        <p:nvSpPr>
          <p:cNvPr id="5" name="Text Placeholder 4">
            <a:extLst>
              <a:ext uri="{FF2B5EF4-FFF2-40B4-BE49-F238E27FC236}">
                <a16:creationId xmlns:a16="http://schemas.microsoft.com/office/drawing/2014/main" id="{515AC119-AFB4-F3DA-6084-3FA9AA2E547C}"/>
              </a:ext>
            </a:extLst>
          </p:cNvPr>
          <p:cNvSpPr>
            <a:spLocks noGrp="1"/>
          </p:cNvSpPr>
          <p:nvPr>
            <p:ph idx="1"/>
          </p:nvPr>
        </p:nvSpPr>
        <p:spPr>
          <a:xfrm>
            <a:off x="838200" y="1825625"/>
            <a:ext cx="6865307" cy="4351338"/>
          </a:xfrm>
        </p:spPr>
        <p:txBody>
          <a:bodyPr/>
          <a:lstStyle/>
          <a:p>
            <a:r>
              <a:rPr lang="en-GB" dirty="0"/>
              <a:t>Full Control</a:t>
            </a:r>
          </a:p>
          <a:p>
            <a:r>
              <a:rPr lang="en-GB" dirty="0"/>
              <a:t>Task Scheduler (Windows)</a:t>
            </a:r>
          </a:p>
          <a:p>
            <a:r>
              <a:rPr lang="en-GB" dirty="0"/>
              <a:t>Easy integration with application</a:t>
            </a:r>
          </a:p>
        </p:txBody>
      </p:sp>
      <p:pic>
        <p:nvPicPr>
          <p:cNvPr id="3" name="Graphic 2">
            <a:extLst>
              <a:ext uri="{FF2B5EF4-FFF2-40B4-BE49-F238E27FC236}">
                <a16:creationId xmlns:a16="http://schemas.microsoft.com/office/drawing/2014/main" id="{84059AE3-A67A-A219-7076-800BB4B429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7912" y="2220241"/>
            <a:ext cx="2417517" cy="2417517"/>
          </a:xfrm>
          <a:prstGeom prst="rect">
            <a:avLst/>
          </a:prstGeom>
        </p:spPr>
      </p:pic>
    </p:spTree>
    <p:extLst>
      <p:ext uri="{BB962C8B-B14F-4D97-AF65-F5344CB8AC3E}">
        <p14:creationId xmlns:p14="http://schemas.microsoft.com/office/powerpoint/2010/main" val="1368804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1FE5A-10F8-BF53-6356-57F3548B30CB}"/>
            </a:ext>
          </a:extLst>
        </p:cNvPr>
        <p:cNvGrpSpPr/>
        <p:nvPr/>
      </p:nvGrpSpPr>
      <p:grpSpPr>
        <a:xfrm>
          <a:off x="0" y="0"/>
          <a:ext cx="0" cy="0"/>
          <a:chOff x="0" y="0"/>
          <a:chExt cx="0" cy="0"/>
        </a:xfrm>
      </p:grpSpPr>
      <p:sp>
        <p:nvSpPr>
          <p:cNvPr id="3" name="Sous-titre 2">
            <a:extLst>
              <a:ext uri="{FF2B5EF4-FFF2-40B4-BE49-F238E27FC236}">
                <a16:creationId xmlns:a16="http://schemas.microsoft.com/office/drawing/2014/main" id="{6433DE74-61C3-2EFA-7B6C-F2307D4A4C3A}"/>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b="1" i="1" dirty="0"/>
              <a:t>Jess Pomfret</a:t>
            </a:r>
            <a:endParaRPr lang="en-GB" b="1" i="1" dirty="0"/>
          </a:p>
        </p:txBody>
      </p:sp>
      <p:cxnSp>
        <p:nvCxnSpPr>
          <p:cNvPr id="6" name="Connecteur droit 5">
            <a:extLst>
              <a:ext uri="{FF2B5EF4-FFF2-40B4-BE49-F238E27FC236}">
                <a16:creationId xmlns:a16="http://schemas.microsoft.com/office/drawing/2014/main" id="{1E885198-B14B-E66B-C52A-2468C1667BCC}"/>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E508B2E9-9D67-5AAF-1FBE-6BA52E5DC65B}"/>
              </a:ext>
            </a:extLst>
          </p:cNvPr>
          <p:cNvSpPr>
            <a:spLocks noGrp="1"/>
          </p:cNvSpPr>
          <p:nvPr>
            <p:ph type="title" idx="4294967295"/>
          </p:nvPr>
        </p:nvSpPr>
        <p:spPr>
          <a:xfrm>
            <a:off x="838200" y="2666707"/>
            <a:ext cx="10515600" cy="1325563"/>
          </a:xfrm>
          <a:prstGeom prst="rect">
            <a:avLst/>
          </a:prstGeom>
        </p:spPr>
        <p:txBody>
          <a:bodyPr anchor="b" anchorCtr="0">
            <a:normAutofit fontScale="90000"/>
          </a:bodyPr>
          <a:lstStyle/>
          <a:p>
            <a:pPr algn="ctr"/>
            <a:r>
              <a:rPr lang="en-GB" sz="6000" b="1" dirty="0">
                <a:solidFill>
                  <a:srgbClr val="346296"/>
                </a:solidFill>
                <a:latin typeface="+mn-lt"/>
              </a:rPr>
              <a:t>Unleashing PowerShell in the Cloud with Azure Automation</a:t>
            </a:r>
            <a:endParaRPr lang="en-DE" sz="6000" b="1" dirty="0">
              <a:solidFill>
                <a:srgbClr val="346296"/>
              </a:solidFill>
              <a:latin typeface="+mn-lt"/>
            </a:endParaRPr>
          </a:p>
        </p:txBody>
      </p:sp>
    </p:spTree>
    <p:extLst>
      <p:ext uri="{BB962C8B-B14F-4D97-AF65-F5344CB8AC3E}">
        <p14:creationId xmlns:p14="http://schemas.microsoft.com/office/powerpoint/2010/main" val="11480000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diagram with two squares&#10;&#10;AI-generated content may be incorrect.">
            <a:extLst>
              <a:ext uri="{FF2B5EF4-FFF2-40B4-BE49-F238E27FC236}">
                <a16:creationId xmlns:a16="http://schemas.microsoft.com/office/drawing/2014/main" id="{A98A9674-AFA0-4E7F-8440-7798F67A72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9800" y="2554605"/>
            <a:ext cx="1748790" cy="1748790"/>
          </a:xfrm>
          <a:prstGeom prst="rect">
            <a:avLst/>
          </a:prstGeom>
        </p:spPr>
      </p:pic>
      <p:sp>
        <p:nvSpPr>
          <p:cNvPr id="5" name="Title 4">
            <a:extLst>
              <a:ext uri="{FF2B5EF4-FFF2-40B4-BE49-F238E27FC236}">
                <a16:creationId xmlns:a16="http://schemas.microsoft.com/office/drawing/2014/main" id="{A30E77D1-EF09-9683-F5CC-1986417334E0}"/>
              </a:ext>
            </a:extLst>
          </p:cNvPr>
          <p:cNvSpPr>
            <a:spLocks noGrp="1"/>
          </p:cNvSpPr>
          <p:nvPr>
            <p:ph type="title"/>
          </p:nvPr>
        </p:nvSpPr>
        <p:spPr/>
        <p:txBody>
          <a:bodyPr/>
          <a:lstStyle/>
          <a:p>
            <a:r>
              <a:rPr lang="en-GB" dirty="0"/>
              <a:t>Azure Automation</a:t>
            </a:r>
          </a:p>
        </p:txBody>
      </p:sp>
      <p:sp>
        <p:nvSpPr>
          <p:cNvPr id="6" name="Content Placeholder 5">
            <a:extLst>
              <a:ext uri="{FF2B5EF4-FFF2-40B4-BE49-F238E27FC236}">
                <a16:creationId xmlns:a16="http://schemas.microsoft.com/office/drawing/2014/main" id="{1A03EE0D-FB20-DB59-A450-78F968BA7387}"/>
              </a:ext>
            </a:extLst>
          </p:cNvPr>
          <p:cNvSpPr>
            <a:spLocks noGrp="1"/>
          </p:cNvSpPr>
          <p:nvPr>
            <p:ph idx="1"/>
          </p:nvPr>
        </p:nvSpPr>
        <p:spPr>
          <a:xfrm>
            <a:off x="838200" y="1825625"/>
            <a:ext cx="10515600" cy="4502986"/>
          </a:xfrm>
        </p:spPr>
        <p:txBody>
          <a:bodyPr>
            <a:normAutofit lnSpcReduction="10000"/>
          </a:bodyPr>
          <a:lstStyle/>
          <a:p>
            <a:r>
              <a:rPr lang="en-GB" dirty="0"/>
              <a:t>Account</a:t>
            </a:r>
          </a:p>
          <a:p>
            <a:r>
              <a:rPr lang="en-GB" dirty="0"/>
              <a:t>Runbooks</a:t>
            </a:r>
          </a:p>
          <a:p>
            <a:r>
              <a:rPr lang="en-GB" dirty="0"/>
              <a:t>Runtime Environments</a:t>
            </a:r>
          </a:p>
          <a:p>
            <a:pPr lvl="1"/>
            <a:r>
              <a:rPr lang="en-GB" dirty="0"/>
              <a:t>PowerShell</a:t>
            </a:r>
          </a:p>
          <a:p>
            <a:pPr lvl="1"/>
            <a:r>
              <a:rPr lang="en-GB" dirty="0"/>
              <a:t>Python</a:t>
            </a:r>
          </a:p>
          <a:p>
            <a:r>
              <a:rPr lang="en-GB" dirty="0"/>
              <a:t>Hybrid Worker</a:t>
            </a:r>
          </a:p>
          <a:p>
            <a:r>
              <a:rPr lang="en-GB" dirty="0"/>
              <a:t>Variables</a:t>
            </a:r>
          </a:p>
          <a:p>
            <a:r>
              <a:rPr lang="en-GB" dirty="0"/>
              <a:t>Source Control</a:t>
            </a:r>
          </a:p>
        </p:txBody>
      </p:sp>
    </p:spTree>
    <p:extLst>
      <p:ext uri="{BB962C8B-B14F-4D97-AF65-F5344CB8AC3E}">
        <p14:creationId xmlns:p14="http://schemas.microsoft.com/office/powerpoint/2010/main" val="2134441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5F343-A5D1-310A-8CF3-B1DB64B50425}"/>
              </a:ext>
            </a:extLst>
          </p:cNvPr>
          <p:cNvSpPr>
            <a:spLocks noGrp="1"/>
          </p:cNvSpPr>
          <p:nvPr>
            <p:ph type="title"/>
          </p:nvPr>
        </p:nvSpPr>
        <p:spPr>
          <a:xfrm>
            <a:off x="838200" y="365125"/>
            <a:ext cx="9733280" cy="1325563"/>
          </a:xfrm>
        </p:spPr>
        <p:txBody>
          <a:bodyPr anchor="ctr">
            <a:normAutofit/>
          </a:bodyPr>
          <a:lstStyle/>
          <a:p>
            <a:r>
              <a:rPr lang="en-GB" dirty="0"/>
              <a:t>Runtime Environments</a:t>
            </a:r>
          </a:p>
        </p:txBody>
      </p:sp>
      <p:pic>
        <p:nvPicPr>
          <p:cNvPr id="5" name="Picture 4">
            <a:extLst>
              <a:ext uri="{FF2B5EF4-FFF2-40B4-BE49-F238E27FC236}">
                <a16:creationId xmlns:a16="http://schemas.microsoft.com/office/drawing/2014/main" id="{22012AB7-D9F9-44CF-BD30-D06581096777}"/>
              </a:ext>
            </a:extLst>
          </p:cNvPr>
          <p:cNvPicPr>
            <a:picLocks noChangeAspect="1"/>
          </p:cNvPicPr>
          <p:nvPr/>
        </p:nvPicPr>
        <p:blipFill>
          <a:blip r:embed="rId3"/>
          <a:stretch>
            <a:fillRect/>
          </a:stretch>
        </p:blipFill>
        <p:spPr>
          <a:xfrm>
            <a:off x="838200" y="2003330"/>
            <a:ext cx="10515600" cy="3995928"/>
          </a:xfrm>
          <a:prstGeom prst="rect">
            <a:avLst/>
          </a:prstGeom>
          <a:noFill/>
        </p:spPr>
      </p:pic>
    </p:spTree>
    <p:extLst>
      <p:ext uri="{BB962C8B-B14F-4D97-AF65-F5344CB8AC3E}">
        <p14:creationId xmlns:p14="http://schemas.microsoft.com/office/powerpoint/2010/main" val="8568307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55364-BD80-0BAB-6546-75ADF91E68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C0CFCDF-DA11-BD31-D98E-2C30E370AE28}"/>
              </a:ext>
            </a:extLst>
          </p:cNvPr>
          <p:cNvSpPr>
            <a:spLocks noGrp="1"/>
          </p:cNvSpPr>
          <p:nvPr>
            <p:ph type="title"/>
          </p:nvPr>
        </p:nvSpPr>
        <p:spPr/>
        <p:txBody>
          <a:bodyPr>
            <a:noAutofit/>
          </a:bodyPr>
          <a:lstStyle/>
          <a:p>
            <a:r>
              <a:rPr lang="en-US" sz="4400" dirty="0"/>
              <a:t>Where Should Your Runbooks Run? Hybrid vs. Cloud</a:t>
            </a:r>
            <a:endParaRPr lang="en-GB" sz="4400" dirty="0"/>
          </a:p>
        </p:txBody>
      </p:sp>
      <p:sp>
        <p:nvSpPr>
          <p:cNvPr id="8" name="AutoShape 3">
            <a:extLst>
              <a:ext uri="{FF2B5EF4-FFF2-40B4-BE49-F238E27FC236}">
                <a16:creationId xmlns:a16="http://schemas.microsoft.com/office/drawing/2014/main" id="{41AB7653-8B1C-E6F7-B94D-EF800C3BD57B}"/>
              </a:ext>
            </a:extLst>
          </p:cNvPr>
          <p:cNvSpPr>
            <a:spLocks noChangeAspect="1" noChangeArrowheads="1" noTextEdit="1"/>
          </p:cNvSpPr>
          <p:nvPr/>
        </p:nvSpPr>
        <p:spPr bwMode="auto">
          <a:xfrm>
            <a:off x="820738" y="1804988"/>
            <a:ext cx="10550525"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0" name="Line 26">
            <a:extLst>
              <a:ext uri="{FF2B5EF4-FFF2-40B4-BE49-F238E27FC236}">
                <a16:creationId xmlns:a16="http://schemas.microsoft.com/office/drawing/2014/main" id="{C1652C71-80A8-0EA6-D55A-08D083BB7ABC}"/>
              </a:ext>
            </a:extLst>
          </p:cNvPr>
          <p:cNvSpPr>
            <a:spLocks noChangeShapeType="1"/>
          </p:cNvSpPr>
          <p:nvPr/>
        </p:nvSpPr>
        <p:spPr bwMode="auto">
          <a:xfrm>
            <a:off x="3025776" y="1822451"/>
            <a:ext cx="0" cy="3146425"/>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 name="Line 27">
            <a:extLst>
              <a:ext uri="{FF2B5EF4-FFF2-40B4-BE49-F238E27FC236}">
                <a16:creationId xmlns:a16="http://schemas.microsoft.com/office/drawing/2014/main" id="{A5ACCC1E-406B-208B-8C04-699A4C791B6F}"/>
              </a:ext>
            </a:extLst>
          </p:cNvPr>
          <p:cNvSpPr>
            <a:spLocks noChangeShapeType="1"/>
          </p:cNvSpPr>
          <p:nvPr/>
        </p:nvSpPr>
        <p:spPr bwMode="auto">
          <a:xfrm>
            <a:off x="6837363" y="1822451"/>
            <a:ext cx="0" cy="3146425"/>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 name="Line 34">
            <a:extLst>
              <a:ext uri="{FF2B5EF4-FFF2-40B4-BE49-F238E27FC236}">
                <a16:creationId xmlns:a16="http://schemas.microsoft.com/office/drawing/2014/main" id="{CA2C9E69-45A2-DF91-2E9E-426546B0FEDE}"/>
              </a:ext>
            </a:extLst>
          </p:cNvPr>
          <p:cNvSpPr>
            <a:spLocks noChangeShapeType="1"/>
          </p:cNvSpPr>
          <p:nvPr/>
        </p:nvSpPr>
        <p:spPr bwMode="auto">
          <a:xfrm>
            <a:off x="828676" y="1822451"/>
            <a:ext cx="0" cy="3146425"/>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 name="Line 35">
            <a:extLst>
              <a:ext uri="{FF2B5EF4-FFF2-40B4-BE49-F238E27FC236}">
                <a16:creationId xmlns:a16="http://schemas.microsoft.com/office/drawing/2014/main" id="{13AB8AED-E08F-0F93-6DC9-8A8BA7BAD5C0}"/>
              </a:ext>
            </a:extLst>
          </p:cNvPr>
          <p:cNvSpPr>
            <a:spLocks noChangeShapeType="1"/>
          </p:cNvSpPr>
          <p:nvPr/>
        </p:nvSpPr>
        <p:spPr bwMode="auto">
          <a:xfrm>
            <a:off x="11345863" y="1822451"/>
            <a:ext cx="0" cy="3146425"/>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nvGrpSpPr>
          <p:cNvPr id="97" name="Group 96">
            <a:extLst>
              <a:ext uri="{FF2B5EF4-FFF2-40B4-BE49-F238E27FC236}">
                <a16:creationId xmlns:a16="http://schemas.microsoft.com/office/drawing/2014/main" id="{55BCE577-9A98-D238-A893-51EF7D44A13B}"/>
              </a:ext>
            </a:extLst>
          </p:cNvPr>
          <p:cNvGrpSpPr/>
          <p:nvPr/>
        </p:nvGrpSpPr>
        <p:grpSpPr>
          <a:xfrm>
            <a:off x="822326" y="1828801"/>
            <a:ext cx="10529888" cy="384175"/>
            <a:chOff x="822326" y="1828801"/>
            <a:chExt cx="10529888" cy="384175"/>
          </a:xfrm>
        </p:grpSpPr>
        <p:sp>
          <p:nvSpPr>
            <p:cNvPr id="9" name="Rectangle 5">
              <a:extLst>
                <a:ext uri="{FF2B5EF4-FFF2-40B4-BE49-F238E27FC236}">
                  <a16:creationId xmlns:a16="http://schemas.microsoft.com/office/drawing/2014/main" id="{9D1F4AAE-822E-F862-F0EB-FF4341491C88}"/>
                </a:ext>
              </a:extLst>
            </p:cNvPr>
            <p:cNvSpPr>
              <a:spLocks noChangeArrowheads="1"/>
            </p:cNvSpPr>
            <p:nvPr/>
          </p:nvSpPr>
          <p:spPr bwMode="auto">
            <a:xfrm>
              <a:off x="828676" y="1828801"/>
              <a:ext cx="2197100" cy="369888"/>
            </a:xfrm>
            <a:prstGeom prst="rect">
              <a:avLst/>
            </a:prstGeom>
            <a:solidFill>
              <a:srgbClr val="32619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0" name="Rectangle 6">
              <a:extLst>
                <a:ext uri="{FF2B5EF4-FFF2-40B4-BE49-F238E27FC236}">
                  <a16:creationId xmlns:a16="http://schemas.microsoft.com/office/drawing/2014/main" id="{1AC100EA-2B4A-6B35-8ED3-90CF30A13036}"/>
                </a:ext>
              </a:extLst>
            </p:cNvPr>
            <p:cNvSpPr>
              <a:spLocks noChangeArrowheads="1"/>
            </p:cNvSpPr>
            <p:nvPr/>
          </p:nvSpPr>
          <p:spPr bwMode="auto">
            <a:xfrm>
              <a:off x="3025776" y="1828801"/>
              <a:ext cx="3811588" cy="369888"/>
            </a:xfrm>
            <a:prstGeom prst="rect">
              <a:avLst/>
            </a:prstGeom>
            <a:solidFill>
              <a:srgbClr val="32619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Rectangle 7">
              <a:extLst>
                <a:ext uri="{FF2B5EF4-FFF2-40B4-BE49-F238E27FC236}">
                  <a16:creationId xmlns:a16="http://schemas.microsoft.com/office/drawing/2014/main" id="{3A6A7525-D7CE-1D34-DFEF-2307C6CACA42}"/>
                </a:ext>
              </a:extLst>
            </p:cNvPr>
            <p:cNvSpPr>
              <a:spLocks noChangeArrowheads="1"/>
            </p:cNvSpPr>
            <p:nvPr/>
          </p:nvSpPr>
          <p:spPr bwMode="auto">
            <a:xfrm>
              <a:off x="6837363" y="1828801"/>
              <a:ext cx="4508500" cy="369888"/>
            </a:xfrm>
            <a:prstGeom prst="rect">
              <a:avLst/>
            </a:prstGeom>
            <a:solidFill>
              <a:srgbClr val="32619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40" name="Line 36">
              <a:extLst>
                <a:ext uri="{FF2B5EF4-FFF2-40B4-BE49-F238E27FC236}">
                  <a16:creationId xmlns:a16="http://schemas.microsoft.com/office/drawing/2014/main" id="{3A254EF3-7946-29B9-74F9-25BA0914BD32}"/>
                </a:ext>
              </a:extLst>
            </p:cNvPr>
            <p:cNvSpPr>
              <a:spLocks noChangeShapeType="1"/>
            </p:cNvSpPr>
            <p:nvPr/>
          </p:nvSpPr>
          <p:spPr bwMode="auto">
            <a:xfrm>
              <a:off x="822326" y="1828801"/>
              <a:ext cx="105298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 name="Rectangle 38">
              <a:extLst>
                <a:ext uri="{FF2B5EF4-FFF2-40B4-BE49-F238E27FC236}">
                  <a16:creationId xmlns:a16="http://schemas.microsoft.com/office/drawing/2014/main" id="{B6289FAE-5E14-85D0-94F5-55AF2BF5FD40}"/>
                </a:ext>
              </a:extLst>
            </p:cNvPr>
            <p:cNvSpPr>
              <a:spLocks noChangeArrowheads="1"/>
            </p:cNvSpPr>
            <p:nvPr/>
          </p:nvSpPr>
          <p:spPr bwMode="auto">
            <a:xfrm>
              <a:off x="6929438" y="1873251"/>
              <a:ext cx="20081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Calibri" panose="020F0502020204030204" pitchFamily="34" charset="0"/>
                </a:rPr>
                <a:t>Azure Cloud Runner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39">
              <a:extLst>
                <a:ext uri="{FF2B5EF4-FFF2-40B4-BE49-F238E27FC236}">
                  <a16:creationId xmlns:a16="http://schemas.microsoft.com/office/drawing/2014/main" id="{9ECA9019-B8E7-C779-52C0-76D84B68F65B}"/>
                </a:ext>
              </a:extLst>
            </p:cNvPr>
            <p:cNvSpPr>
              <a:spLocks noChangeArrowheads="1"/>
            </p:cNvSpPr>
            <p:nvPr/>
          </p:nvSpPr>
          <p:spPr bwMode="auto">
            <a:xfrm>
              <a:off x="3117851" y="1873251"/>
              <a:ext cx="24272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Calibri" panose="020F0502020204030204" pitchFamily="34" charset="0"/>
                </a:rPr>
                <a:t>Hybrid Runbook Worker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40">
              <a:extLst>
                <a:ext uri="{FF2B5EF4-FFF2-40B4-BE49-F238E27FC236}">
                  <a16:creationId xmlns:a16="http://schemas.microsoft.com/office/drawing/2014/main" id="{13935E95-7D57-2329-AF50-ED82C694A502}"/>
                </a:ext>
              </a:extLst>
            </p:cNvPr>
            <p:cNvSpPr>
              <a:spLocks noChangeArrowheads="1"/>
            </p:cNvSpPr>
            <p:nvPr/>
          </p:nvSpPr>
          <p:spPr bwMode="auto">
            <a:xfrm>
              <a:off x="920751" y="1873251"/>
              <a:ext cx="8540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FFFFFF"/>
                  </a:solidFill>
                  <a:effectLst/>
                  <a:latin typeface="Calibri" panose="020F0502020204030204" pitchFamily="34" charset="0"/>
                </a:rPr>
                <a:t>Feature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96" name="Group 95">
            <a:extLst>
              <a:ext uri="{FF2B5EF4-FFF2-40B4-BE49-F238E27FC236}">
                <a16:creationId xmlns:a16="http://schemas.microsoft.com/office/drawing/2014/main" id="{56850721-ED36-CDB5-83AB-FBFF65B35508}"/>
              </a:ext>
            </a:extLst>
          </p:cNvPr>
          <p:cNvGrpSpPr/>
          <p:nvPr/>
        </p:nvGrpSpPr>
        <p:grpSpPr>
          <a:xfrm>
            <a:off x="822326" y="2198688"/>
            <a:ext cx="10529888" cy="384176"/>
            <a:chOff x="822326" y="2198688"/>
            <a:chExt cx="10529888" cy="384176"/>
          </a:xfrm>
        </p:grpSpPr>
        <p:sp>
          <p:nvSpPr>
            <p:cNvPr id="12" name="Rectangle 8">
              <a:extLst>
                <a:ext uri="{FF2B5EF4-FFF2-40B4-BE49-F238E27FC236}">
                  <a16:creationId xmlns:a16="http://schemas.microsoft.com/office/drawing/2014/main" id="{3B5DBC28-FCD9-2EA2-7302-127045FC65A3}"/>
                </a:ext>
              </a:extLst>
            </p:cNvPr>
            <p:cNvSpPr>
              <a:spLocks noChangeArrowheads="1"/>
            </p:cNvSpPr>
            <p:nvPr/>
          </p:nvSpPr>
          <p:spPr bwMode="auto">
            <a:xfrm>
              <a:off x="828676" y="2198688"/>
              <a:ext cx="2197100"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3" name="Rectangle 9">
              <a:extLst>
                <a:ext uri="{FF2B5EF4-FFF2-40B4-BE49-F238E27FC236}">
                  <a16:creationId xmlns:a16="http://schemas.microsoft.com/office/drawing/2014/main" id="{51080BDF-6697-85A4-0271-9CCA4AFA5592}"/>
                </a:ext>
              </a:extLst>
            </p:cNvPr>
            <p:cNvSpPr>
              <a:spLocks noChangeArrowheads="1"/>
            </p:cNvSpPr>
            <p:nvPr/>
          </p:nvSpPr>
          <p:spPr bwMode="auto">
            <a:xfrm>
              <a:off x="3025776" y="2198688"/>
              <a:ext cx="3811588"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4" name="Rectangle 10">
              <a:extLst>
                <a:ext uri="{FF2B5EF4-FFF2-40B4-BE49-F238E27FC236}">
                  <a16:creationId xmlns:a16="http://schemas.microsoft.com/office/drawing/2014/main" id="{4A9398AE-9A69-E304-E252-E714400D7B30}"/>
                </a:ext>
              </a:extLst>
            </p:cNvPr>
            <p:cNvSpPr>
              <a:spLocks noChangeArrowheads="1"/>
            </p:cNvSpPr>
            <p:nvPr/>
          </p:nvSpPr>
          <p:spPr bwMode="auto">
            <a:xfrm>
              <a:off x="6837363" y="2198688"/>
              <a:ext cx="4508500"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2" name="Line 28">
              <a:extLst>
                <a:ext uri="{FF2B5EF4-FFF2-40B4-BE49-F238E27FC236}">
                  <a16:creationId xmlns:a16="http://schemas.microsoft.com/office/drawing/2014/main" id="{9033068D-8EAB-A50F-AC7B-0E20623CA92C}"/>
                </a:ext>
              </a:extLst>
            </p:cNvPr>
            <p:cNvSpPr>
              <a:spLocks noChangeShapeType="1"/>
            </p:cNvSpPr>
            <p:nvPr/>
          </p:nvSpPr>
          <p:spPr bwMode="auto">
            <a:xfrm>
              <a:off x="822326" y="2198688"/>
              <a:ext cx="10529888" cy="0"/>
            </a:xfrm>
            <a:prstGeom prst="line">
              <a:avLst/>
            </a:prstGeom>
            <a:noFill/>
            <a:ln w="381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 name="Rectangle 41">
              <a:extLst>
                <a:ext uri="{FF2B5EF4-FFF2-40B4-BE49-F238E27FC236}">
                  <a16:creationId xmlns:a16="http://schemas.microsoft.com/office/drawing/2014/main" id="{3F270F47-2875-20D5-112B-36F6660CA971}"/>
                </a:ext>
              </a:extLst>
            </p:cNvPr>
            <p:cNvSpPr>
              <a:spLocks noChangeArrowheads="1"/>
            </p:cNvSpPr>
            <p:nvPr/>
          </p:nvSpPr>
          <p:spPr bwMode="auto">
            <a:xfrm>
              <a:off x="6929438" y="2241551"/>
              <a:ext cx="62388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Runs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 name="Rectangle 42">
              <a:extLst>
                <a:ext uri="{FF2B5EF4-FFF2-40B4-BE49-F238E27FC236}">
                  <a16:creationId xmlns:a16="http://schemas.microsoft.com/office/drawing/2014/main" id="{29B7146F-B358-C4BF-E562-EE09FBE122EF}"/>
                </a:ext>
              </a:extLst>
            </p:cNvPr>
            <p:cNvSpPr>
              <a:spLocks noChangeArrowheads="1"/>
            </p:cNvSpPr>
            <p:nvPr/>
          </p:nvSpPr>
          <p:spPr bwMode="auto">
            <a:xfrm>
              <a:off x="7434263" y="2241551"/>
              <a:ext cx="17113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000000"/>
                  </a:solidFill>
                  <a:effectLst/>
                  <a:latin typeface="Calibri" panose="020F0502020204030204" pitchFamily="34" charset="0"/>
                </a:rPr>
                <a:t>natively in Azure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7" name="Rectangle 43">
              <a:extLst>
                <a:ext uri="{FF2B5EF4-FFF2-40B4-BE49-F238E27FC236}">
                  <a16:creationId xmlns:a16="http://schemas.microsoft.com/office/drawing/2014/main" id="{CE6B7E9A-BB68-7357-53D0-88BBE69986DC}"/>
                </a:ext>
              </a:extLst>
            </p:cNvPr>
            <p:cNvSpPr>
              <a:spLocks noChangeArrowheads="1"/>
            </p:cNvSpPr>
            <p:nvPr/>
          </p:nvSpPr>
          <p:spPr bwMode="auto">
            <a:xfrm>
              <a:off x="3117851" y="2241551"/>
              <a:ext cx="9191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Runs on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44">
              <a:extLst>
                <a:ext uri="{FF2B5EF4-FFF2-40B4-BE49-F238E27FC236}">
                  <a16:creationId xmlns:a16="http://schemas.microsoft.com/office/drawing/2014/main" id="{E16166A5-1CD4-F330-B70C-985EDD7D0F8F}"/>
                </a:ext>
              </a:extLst>
            </p:cNvPr>
            <p:cNvSpPr>
              <a:spLocks noChangeArrowheads="1"/>
            </p:cNvSpPr>
            <p:nvPr/>
          </p:nvSpPr>
          <p:spPr bwMode="auto">
            <a:xfrm>
              <a:off x="3917951" y="2241551"/>
              <a:ext cx="36671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 name="Rectangle 45">
              <a:extLst>
                <a:ext uri="{FF2B5EF4-FFF2-40B4-BE49-F238E27FC236}">
                  <a16:creationId xmlns:a16="http://schemas.microsoft.com/office/drawing/2014/main" id="{E6B850FF-86FC-E0B4-1823-A8264110C925}"/>
                </a:ext>
              </a:extLst>
            </p:cNvPr>
            <p:cNvSpPr>
              <a:spLocks noChangeArrowheads="1"/>
            </p:cNvSpPr>
            <p:nvPr/>
          </p:nvSpPr>
          <p:spPr bwMode="auto">
            <a:xfrm>
              <a:off x="4165601" y="2241551"/>
              <a:ext cx="19208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46">
              <a:extLst>
                <a:ext uri="{FF2B5EF4-FFF2-40B4-BE49-F238E27FC236}">
                  <a16:creationId xmlns:a16="http://schemas.microsoft.com/office/drawing/2014/main" id="{D61744B8-40C3-5C87-24C6-9D9D83CDCD59}"/>
                </a:ext>
              </a:extLst>
            </p:cNvPr>
            <p:cNvSpPr>
              <a:spLocks noChangeArrowheads="1"/>
            </p:cNvSpPr>
            <p:nvPr/>
          </p:nvSpPr>
          <p:spPr bwMode="auto">
            <a:xfrm>
              <a:off x="4235451" y="2241551"/>
              <a:ext cx="977900"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premises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47">
              <a:extLst>
                <a:ext uri="{FF2B5EF4-FFF2-40B4-BE49-F238E27FC236}">
                  <a16:creationId xmlns:a16="http://schemas.microsoft.com/office/drawing/2014/main" id="{D3755811-4C69-9F16-9BFF-2CD9EA7716B3}"/>
                </a:ext>
              </a:extLst>
            </p:cNvPr>
            <p:cNvSpPr>
              <a:spLocks noChangeArrowheads="1"/>
            </p:cNvSpPr>
            <p:nvPr/>
          </p:nvSpPr>
          <p:spPr bwMode="auto">
            <a:xfrm>
              <a:off x="5135563" y="2241551"/>
              <a:ext cx="3730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or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48">
              <a:extLst>
                <a:ext uri="{FF2B5EF4-FFF2-40B4-BE49-F238E27FC236}">
                  <a16:creationId xmlns:a16="http://schemas.microsoft.com/office/drawing/2014/main" id="{02E9EFC2-80C9-C3AD-A197-2D3A4E4F6226}"/>
                </a:ext>
              </a:extLst>
            </p:cNvPr>
            <p:cNvSpPr>
              <a:spLocks noChangeArrowheads="1"/>
            </p:cNvSpPr>
            <p:nvPr/>
          </p:nvSpPr>
          <p:spPr bwMode="auto">
            <a:xfrm>
              <a:off x="5389563" y="2241551"/>
              <a:ext cx="11477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Azure VMs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 name="Rectangle 49">
              <a:extLst>
                <a:ext uri="{FF2B5EF4-FFF2-40B4-BE49-F238E27FC236}">
                  <a16:creationId xmlns:a16="http://schemas.microsoft.com/office/drawing/2014/main" id="{30D46579-70C9-8B1F-331E-D719689D67D5}"/>
                </a:ext>
              </a:extLst>
            </p:cNvPr>
            <p:cNvSpPr>
              <a:spLocks noChangeArrowheads="1"/>
            </p:cNvSpPr>
            <p:nvPr/>
          </p:nvSpPr>
          <p:spPr bwMode="auto">
            <a:xfrm>
              <a:off x="920751" y="2241551"/>
              <a:ext cx="19097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Execution Location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95" name="Group 94">
            <a:extLst>
              <a:ext uri="{FF2B5EF4-FFF2-40B4-BE49-F238E27FC236}">
                <a16:creationId xmlns:a16="http://schemas.microsoft.com/office/drawing/2014/main" id="{C316FCD3-00C1-AD65-05C0-AADAD1942AB1}"/>
              </a:ext>
            </a:extLst>
          </p:cNvPr>
          <p:cNvGrpSpPr/>
          <p:nvPr/>
        </p:nvGrpSpPr>
        <p:grpSpPr>
          <a:xfrm>
            <a:off x="822326" y="2570163"/>
            <a:ext cx="10529888" cy="654050"/>
            <a:chOff x="822326" y="2570163"/>
            <a:chExt cx="10529888" cy="654050"/>
          </a:xfrm>
        </p:grpSpPr>
        <p:sp>
          <p:nvSpPr>
            <p:cNvPr id="15" name="Rectangle 11">
              <a:extLst>
                <a:ext uri="{FF2B5EF4-FFF2-40B4-BE49-F238E27FC236}">
                  <a16:creationId xmlns:a16="http://schemas.microsoft.com/office/drawing/2014/main" id="{F09847DC-422B-C491-9001-787F497713A1}"/>
                </a:ext>
              </a:extLst>
            </p:cNvPr>
            <p:cNvSpPr>
              <a:spLocks noChangeArrowheads="1"/>
            </p:cNvSpPr>
            <p:nvPr/>
          </p:nvSpPr>
          <p:spPr bwMode="auto">
            <a:xfrm>
              <a:off x="828676" y="2570163"/>
              <a:ext cx="2197100"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6" name="Rectangle 12">
              <a:extLst>
                <a:ext uri="{FF2B5EF4-FFF2-40B4-BE49-F238E27FC236}">
                  <a16:creationId xmlns:a16="http://schemas.microsoft.com/office/drawing/2014/main" id="{E65C110B-C4B0-E65C-E525-EE22FA654261}"/>
                </a:ext>
              </a:extLst>
            </p:cNvPr>
            <p:cNvSpPr>
              <a:spLocks noChangeArrowheads="1"/>
            </p:cNvSpPr>
            <p:nvPr/>
          </p:nvSpPr>
          <p:spPr bwMode="auto">
            <a:xfrm>
              <a:off x="3025776" y="2570163"/>
              <a:ext cx="3811588"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7" name="Rectangle 13">
              <a:extLst>
                <a:ext uri="{FF2B5EF4-FFF2-40B4-BE49-F238E27FC236}">
                  <a16:creationId xmlns:a16="http://schemas.microsoft.com/office/drawing/2014/main" id="{E7D58A93-8FD1-58C9-CD60-2CB105479DFC}"/>
                </a:ext>
              </a:extLst>
            </p:cNvPr>
            <p:cNvSpPr>
              <a:spLocks noChangeArrowheads="1"/>
            </p:cNvSpPr>
            <p:nvPr/>
          </p:nvSpPr>
          <p:spPr bwMode="auto">
            <a:xfrm>
              <a:off x="6837363" y="2570163"/>
              <a:ext cx="4508500"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3" name="Line 29">
              <a:extLst>
                <a:ext uri="{FF2B5EF4-FFF2-40B4-BE49-F238E27FC236}">
                  <a16:creationId xmlns:a16="http://schemas.microsoft.com/office/drawing/2014/main" id="{94C9F942-64AD-D96F-51E4-DE5B48F13E34}"/>
                </a:ext>
              </a:extLst>
            </p:cNvPr>
            <p:cNvSpPr>
              <a:spLocks noChangeShapeType="1"/>
            </p:cNvSpPr>
            <p:nvPr/>
          </p:nvSpPr>
          <p:spPr bwMode="auto">
            <a:xfrm>
              <a:off x="822326" y="2570163"/>
              <a:ext cx="105298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 name="Rectangle 50">
              <a:extLst>
                <a:ext uri="{FF2B5EF4-FFF2-40B4-BE49-F238E27FC236}">
                  <a16:creationId xmlns:a16="http://schemas.microsoft.com/office/drawing/2014/main" id="{C361CE47-B05A-3C68-2DB9-5EDF81469960}"/>
                </a:ext>
              </a:extLst>
            </p:cNvPr>
            <p:cNvSpPr>
              <a:spLocks noChangeArrowheads="1"/>
            </p:cNvSpPr>
            <p:nvPr/>
          </p:nvSpPr>
          <p:spPr bwMode="auto">
            <a:xfrm>
              <a:off x="6929438" y="2749551"/>
              <a:ext cx="12684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Automating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51">
              <a:extLst>
                <a:ext uri="{FF2B5EF4-FFF2-40B4-BE49-F238E27FC236}">
                  <a16:creationId xmlns:a16="http://schemas.microsoft.com/office/drawing/2014/main" id="{09353A07-7C40-8253-F7DD-EF5CAA97F2F2}"/>
                </a:ext>
              </a:extLst>
            </p:cNvPr>
            <p:cNvSpPr>
              <a:spLocks noChangeArrowheads="1"/>
            </p:cNvSpPr>
            <p:nvPr/>
          </p:nvSpPr>
          <p:spPr bwMode="auto">
            <a:xfrm>
              <a:off x="8075613" y="2749551"/>
              <a:ext cx="6683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Azure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6" name="Rectangle 52">
              <a:extLst>
                <a:ext uri="{FF2B5EF4-FFF2-40B4-BE49-F238E27FC236}">
                  <a16:creationId xmlns:a16="http://schemas.microsoft.com/office/drawing/2014/main" id="{4820A94A-454E-0933-5452-78EEFE593610}"/>
                </a:ext>
              </a:extLst>
            </p:cNvPr>
            <p:cNvSpPr>
              <a:spLocks noChangeArrowheads="1"/>
            </p:cNvSpPr>
            <p:nvPr/>
          </p:nvSpPr>
          <p:spPr bwMode="auto">
            <a:xfrm>
              <a:off x="8620126" y="2749551"/>
              <a:ext cx="1920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 name="Rectangle 53">
              <a:extLst>
                <a:ext uri="{FF2B5EF4-FFF2-40B4-BE49-F238E27FC236}">
                  <a16:creationId xmlns:a16="http://schemas.microsoft.com/office/drawing/2014/main" id="{C9B276F8-033B-F410-F16F-5CC5C0D6A159}"/>
                </a:ext>
              </a:extLst>
            </p:cNvPr>
            <p:cNvSpPr>
              <a:spLocks noChangeArrowheads="1"/>
            </p:cNvSpPr>
            <p:nvPr/>
          </p:nvSpPr>
          <p:spPr bwMode="auto">
            <a:xfrm>
              <a:off x="8689976" y="2749551"/>
              <a:ext cx="7175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native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8" name="Rectangle 54">
              <a:extLst>
                <a:ext uri="{FF2B5EF4-FFF2-40B4-BE49-F238E27FC236}">
                  <a16:creationId xmlns:a16="http://schemas.microsoft.com/office/drawing/2014/main" id="{ED21E713-5BE0-DEEB-8A98-A3E7C03238AD}"/>
                </a:ext>
              </a:extLst>
            </p:cNvPr>
            <p:cNvSpPr>
              <a:spLocks noChangeArrowheads="1"/>
            </p:cNvSpPr>
            <p:nvPr/>
          </p:nvSpPr>
          <p:spPr bwMode="auto">
            <a:xfrm>
              <a:off x="9328151" y="2749551"/>
              <a:ext cx="584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tasks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9" name="Rectangle 55">
              <a:extLst>
                <a:ext uri="{FF2B5EF4-FFF2-40B4-BE49-F238E27FC236}">
                  <a16:creationId xmlns:a16="http://schemas.microsoft.com/office/drawing/2014/main" id="{0F09AF68-FFBA-4CDC-885D-3F63202EAE1B}"/>
                </a:ext>
              </a:extLst>
            </p:cNvPr>
            <p:cNvSpPr>
              <a:spLocks noChangeArrowheads="1"/>
            </p:cNvSpPr>
            <p:nvPr/>
          </p:nvSpPr>
          <p:spPr bwMode="auto">
            <a:xfrm>
              <a:off x="3117851" y="2609851"/>
              <a:ext cx="10969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Managing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0" name="Rectangle 56">
              <a:extLst>
                <a:ext uri="{FF2B5EF4-FFF2-40B4-BE49-F238E27FC236}">
                  <a16:creationId xmlns:a16="http://schemas.microsoft.com/office/drawing/2014/main" id="{E7DE9EFC-1DDA-EF9A-D8CC-7A9801F58E30}"/>
                </a:ext>
              </a:extLst>
            </p:cNvPr>
            <p:cNvSpPr>
              <a:spLocks noChangeArrowheads="1"/>
            </p:cNvSpPr>
            <p:nvPr/>
          </p:nvSpPr>
          <p:spPr bwMode="auto">
            <a:xfrm>
              <a:off x="4095751" y="2609851"/>
              <a:ext cx="3651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1" name="Rectangle 57">
              <a:extLst>
                <a:ext uri="{FF2B5EF4-FFF2-40B4-BE49-F238E27FC236}">
                  <a16:creationId xmlns:a16="http://schemas.microsoft.com/office/drawing/2014/main" id="{1220A63F-CF42-1524-DADF-19787470FB85}"/>
                </a:ext>
              </a:extLst>
            </p:cNvPr>
            <p:cNvSpPr>
              <a:spLocks noChangeArrowheads="1"/>
            </p:cNvSpPr>
            <p:nvPr/>
          </p:nvSpPr>
          <p:spPr bwMode="auto">
            <a:xfrm>
              <a:off x="4341813" y="2609851"/>
              <a:ext cx="19208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2" name="Rectangle 58">
              <a:extLst>
                <a:ext uri="{FF2B5EF4-FFF2-40B4-BE49-F238E27FC236}">
                  <a16:creationId xmlns:a16="http://schemas.microsoft.com/office/drawing/2014/main" id="{8E75379B-8023-F974-305B-E8FC0C822089}"/>
                </a:ext>
              </a:extLst>
            </p:cNvPr>
            <p:cNvSpPr>
              <a:spLocks noChangeArrowheads="1"/>
            </p:cNvSpPr>
            <p:nvPr/>
          </p:nvSpPr>
          <p:spPr bwMode="auto">
            <a:xfrm>
              <a:off x="4411663" y="2609851"/>
              <a:ext cx="97948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premises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3" name="Rectangle 59">
              <a:extLst>
                <a:ext uri="{FF2B5EF4-FFF2-40B4-BE49-F238E27FC236}">
                  <a16:creationId xmlns:a16="http://schemas.microsoft.com/office/drawing/2014/main" id="{286EADD9-AFF7-4C55-FB46-14E5382D9721}"/>
                </a:ext>
              </a:extLst>
            </p:cNvPr>
            <p:cNvSpPr>
              <a:spLocks noChangeArrowheads="1"/>
            </p:cNvSpPr>
            <p:nvPr/>
          </p:nvSpPr>
          <p:spPr bwMode="auto">
            <a:xfrm>
              <a:off x="5313363" y="2609851"/>
              <a:ext cx="37147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or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4" name="Rectangle 60">
              <a:extLst>
                <a:ext uri="{FF2B5EF4-FFF2-40B4-BE49-F238E27FC236}">
                  <a16:creationId xmlns:a16="http://schemas.microsoft.com/office/drawing/2014/main" id="{96202FB4-3F3D-A61D-364C-2509FA9251B7}"/>
                </a:ext>
              </a:extLst>
            </p:cNvPr>
            <p:cNvSpPr>
              <a:spLocks noChangeArrowheads="1"/>
            </p:cNvSpPr>
            <p:nvPr/>
          </p:nvSpPr>
          <p:spPr bwMode="auto">
            <a:xfrm>
              <a:off x="5565776" y="2609851"/>
              <a:ext cx="130333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hybrid cloud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5" name="Rectangle 61">
              <a:extLst>
                <a:ext uri="{FF2B5EF4-FFF2-40B4-BE49-F238E27FC236}">
                  <a16:creationId xmlns:a16="http://schemas.microsoft.com/office/drawing/2014/main" id="{3074BF96-477B-A57E-DF2F-6F6069334ED9}"/>
                </a:ext>
              </a:extLst>
            </p:cNvPr>
            <p:cNvSpPr>
              <a:spLocks noChangeArrowheads="1"/>
            </p:cNvSpPr>
            <p:nvPr/>
          </p:nvSpPr>
          <p:spPr bwMode="auto">
            <a:xfrm>
              <a:off x="3117851" y="2884488"/>
              <a:ext cx="10223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resources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6" name="Rectangle 62">
              <a:extLst>
                <a:ext uri="{FF2B5EF4-FFF2-40B4-BE49-F238E27FC236}">
                  <a16:creationId xmlns:a16="http://schemas.microsoft.com/office/drawing/2014/main" id="{9EAFDD81-991C-4F93-02DF-B3FB7D310A82}"/>
                </a:ext>
              </a:extLst>
            </p:cNvPr>
            <p:cNvSpPr>
              <a:spLocks noChangeArrowheads="1"/>
            </p:cNvSpPr>
            <p:nvPr/>
          </p:nvSpPr>
          <p:spPr bwMode="auto">
            <a:xfrm>
              <a:off x="920751" y="2749551"/>
              <a:ext cx="8969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Best For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94" name="Group 93">
            <a:extLst>
              <a:ext uri="{FF2B5EF4-FFF2-40B4-BE49-F238E27FC236}">
                <a16:creationId xmlns:a16="http://schemas.microsoft.com/office/drawing/2014/main" id="{9E2019AA-0682-7780-13A6-65FFFC4F2BEC}"/>
              </a:ext>
            </a:extLst>
          </p:cNvPr>
          <p:cNvGrpSpPr/>
          <p:nvPr/>
        </p:nvGrpSpPr>
        <p:grpSpPr>
          <a:xfrm>
            <a:off x="822326" y="3209926"/>
            <a:ext cx="10529888" cy="382587"/>
            <a:chOff x="822326" y="3209926"/>
            <a:chExt cx="10529888" cy="382587"/>
          </a:xfrm>
        </p:grpSpPr>
        <p:sp>
          <p:nvSpPr>
            <p:cNvPr id="18" name="Rectangle 14">
              <a:extLst>
                <a:ext uri="{FF2B5EF4-FFF2-40B4-BE49-F238E27FC236}">
                  <a16:creationId xmlns:a16="http://schemas.microsoft.com/office/drawing/2014/main" id="{390820F0-21FC-E6B7-103C-1D1F61E6A10A}"/>
                </a:ext>
              </a:extLst>
            </p:cNvPr>
            <p:cNvSpPr>
              <a:spLocks noChangeArrowheads="1"/>
            </p:cNvSpPr>
            <p:nvPr/>
          </p:nvSpPr>
          <p:spPr bwMode="auto">
            <a:xfrm>
              <a:off x="828676" y="3209926"/>
              <a:ext cx="2197100"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9" name="Rectangle 15">
              <a:extLst>
                <a:ext uri="{FF2B5EF4-FFF2-40B4-BE49-F238E27FC236}">
                  <a16:creationId xmlns:a16="http://schemas.microsoft.com/office/drawing/2014/main" id="{CF04228C-654F-ABE6-7AB4-91E818046F53}"/>
                </a:ext>
              </a:extLst>
            </p:cNvPr>
            <p:cNvSpPr>
              <a:spLocks noChangeArrowheads="1"/>
            </p:cNvSpPr>
            <p:nvPr/>
          </p:nvSpPr>
          <p:spPr bwMode="auto">
            <a:xfrm>
              <a:off x="3025776" y="3209926"/>
              <a:ext cx="3811588"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0" name="Rectangle 16">
              <a:extLst>
                <a:ext uri="{FF2B5EF4-FFF2-40B4-BE49-F238E27FC236}">
                  <a16:creationId xmlns:a16="http://schemas.microsoft.com/office/drawing/2014/main" id="{CE0EA952-C2A8-5D1D-7392-4F2263943918}"/>
                </a:ext>
              </a:extLst>
            </p:cNvPr>
            <p:cNvSpPr>
              <a:spLocks noChangeArrowheads="1"/>
            </p:cNvSpPr>
            <p:nvPr/>
          </p:nvSpPr>
          <p:spPr bwMode="auto">
            <a:xfrm>
              <a:off x="6837363" y="3209926"/>
              <a:ext cx="4508500"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4" name="Line 30">
              <a:extLst>
                <a:ext uri="{FF2B5EF4-FFF2-40B4-BE49-F238E27FC236}">
                  <a16:creationId xmlns:a16="http://schemas.microsoft.com/office/drawing/2014/main" id="{07D06018-D090-07EA-84EF-485F09303190}"/>
                </a:ext>
              </a:extLst>
            </p:cNvPr>
            <p:cNvSpPr>
              <a:spLocks noChangeShapeType="1"/>
            </p:cNvSpPr>
            <p:nvPr/>
          </p:nvSpPr>
          <p:spPr bwMode="auto">
            <a:xfrm>
              <a:off x="822326" y="3209926"/>
              <a:ext cx="105298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7" name="Rectangle 63">
              <a:extLst>
                <a:ext uri="{FF2B5EF4-FFF2-40B4-BE49-F238E27FC236}">
                  <a16:creationId xmlns:a16="http://schemas.microsoft.com/office/drawing/2014/main" id="{496B819E-4648-968C-454E-159471D149B6}"/>
                </a:ext>
              </a:extLst>
            </p:cNvPr>
            <p:cNvSpPr>
              <a:spLocks noChangeArrowheads="1"/>
            </p:cNvSpPr>
            <p:nvPr/>
          </p:nvSpPr>
          <p:spPr bwMode="auto">
            <a:xfrm>
              <a:off x="6929438" y="3252788"/>
              <a:ext cx="11144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Limited to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8" name="Rectangle 64">
              <a:extLst>
                <a:ext uri="{FF2B5EF4-FFF2-40B4-BE49-F238E27FC236}">
                  <a16:creationId xmlns:a16="http://schemas.microsoft.com/office/drawing/2014/main" id="{52E84AC0-45F7-6DF1-11E7-58F7ECFDE564}"/>
                </a:ext>
              </a:extLst>
            </p:cNvPr>
            <p:cNvSpPr>
              <a:spLocks noChangeArrowheads="1"/>
            </p:cNvSpPr>
            <p:nvPr/>
          </p:nvSpPr>
          <p:spPr bwMode="auto">
            <a:xfrm>
              <a:off x="7921626" y="3252788"/>
              <a:ext cx="1473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Azure services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9" name="Rectangle 65">
              <a:extLst>
                <a:ext uri="{FF2B5EF4-FFF2-40B4-BE49-F238E27FC236}">
                  <a16:creationId xmlns:a16="http://schemas.microsoft.com/office/drawing/2014/main" id="{A3A7CD77-FDC0-E6E5-5DFB-943289935608}"/>
                </a:ext>
              </a:extLst>
            </p:cNvPr>
            <p:cNvSpPr>
              <a:spLocks noChangeArrowheads="1"/>
            </p:cNvSpPr>
            <p:nvPr/>
          </p:nvSpPr>
          <p:spPr bwMode="auto">
            <a:xfrm>
              <a:off x="3117851" y="3252788"/>
              <a:ext cx="11731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Can access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0" name="Rectangle 66">
              <a:extLst>
                <a:ext uri="{FF2B5EF4-FFF2-40B4-BE49-F238E27FC236}">
                  <a16:creationId xmlns:a16="http://schemas.microsoft.com/office/drawing/2014/main" id="{0BD343A2-4743-EE08-DAF5-30CF26F12A42}"/>
                </a:ext>
              </a:extLst>
            </p:cNvPr>
            <p:cNvSpPr>
              <a:spLocks noChangeArrowheads="1"/>
            </p:cNvSpPr>
            <p:nvPr/>
          </p:nvSpPr>
          <p:spPr bwMode="auto">
            <a:xfrm>
              <a:off x="4171951" y="3252788"/>
              <a:ext cx="23812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local network resources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1" name="Rectangle 67">
              <a:extLst>
                <a:ext uri="{FF2B5EF4-FFF2-40B4-BE49-F238E27FC236}">
                  <a16:creationId xmlns:a16="http://schemas.microsoft.com/office/drawing/2014/main" id="{1CCDDB36-24CE-1DBF-5CCA-8B503CE3B385}"/>
                </a:ext>
              </a:extLst>
            </p:cNvPr>
            <p:cNvSpPr>
              <a:spLocks noChangeArrowheads="1"/>
            </p:cNvSpPr>
            <p:nvPr/>
          </p:nvSpPr>
          <p:spPr bwMode="auto">
            <a:xfrm>
              <a:off x="920751" y="3252788"/>
              <a:ext cx="13065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Connectivity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93" name="Group 92">
            <a:extLst>
              <a:ext uri="{FF2B5EF4-FFF2-40B4-BE49-F238E27FC236}">
                <a16:creationId xmlns:a16="http://schemas.microsoft.com/office/drawing/2014/main" id="{286DEC36-3D31-8488-EFFD-B760FBD21FA0}"/>
              </a:ext>
            </a:extLst>
          </p:cNvPr>
          <p:cNvGrpSpPr/>
          <p:nvPr/>
        </p:nvGrpSpPr>
        <p:grpSpPr>
          <a:xfrm>
            <a:off x="822326" y="3581401"/>
            <a:ext cx="10529888" cy="384175"/>
            <a:chOff x="822326" y="3581401"/>
            <a:chExt cx="10529888" cy="384175"/>
          </a:xfrm>
        </p:grpSpPr>
        <p:sp>
          <p:nvSpPr>
            <p:cNvPr id="21" name="Rectangle 17">
              <a:extLst>
                <a:ext uri="{FF2B5EF4-FFF2-40B4-BE49-F238E27FC236}">
                  <a16:creationId xmlns:a16="http://schemas.microsoft.com/office/drawing/2014/main" id="{13337C07-1966-4347-A55D-60A86F54C0E9}"/>
                </a:ext>
              </a:extLst>
            </p:cNvPr>
            <p:cNvSpPr>
              <a:spLocks noChangeArrowheads="1"/>
            </p:cNvSpPr>
            <p:nvPr/>
          </p:nvSpPr>
          <p:spPr bwMode="auto">
            <a:xfrm>
              <a:off x="828676" y="3581401"/>
              <a:ext cx="2197100" cy="369888"/>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2" name="Rectangle 18">
              <a:extLst>
                <a:ext uri="{FF2B5EF4-FFF2-40B4-BE49-F238E27FC236}">
                  <a16:creationId xmlns:a16="http://schemas.microsoft.com/office/drawing/2014/main" id="{6F0A7A9E-FDA0-C103-F966-581931830D28}"/>
                </a:ext>
              </a:extLst>
            </p:cNvPr>
            <p:cNvSpPr>
              <a:spLocks noChangeArrowheads="1"/>
            </p:cNvSpPr>
            <p:nvPr/>
          </p:nvSpPr>
          <p:spPr bwMode="auto">
            <a:xfrm>
              <a:off x="3025776" y="3581401"/>
              <a:ext cx="3811588" cy="369888"/>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3" name="Rectangle 19">
              <a:extLst>
                <a:ext uri="{FF2B5EF4-FFF2-40B4-BE49-F238E27FC236}">
                  <a16:creationId xmlns:a16="http://schemas.microsoft.com/office/drawing/2014/main" id="{E5B07DF0-3A2D-7B7F-6F1B-0375E3537328}"/>
                </a:ext>
              </a:extLst>
            </p:cNvPr>
            <p:cNvSpPr>
              <a:spLocks noChangeArrowheads="1"/>
            </p:cNvSpPr>
            <p:nvPr/>
          </p:nvSpPr>
          <p:spPr bwMode="auto">
            <a:xfrm>
              <a:off x="6837363" y="3581401"/>
              <a:ext cx="4508500" cy="369888"/>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5" name="Line 31">
              <a:extLst>
                <a:ext uri="{FF2B5EF4-FFF2-40B4-BE49-F238E27FC236}">
                  <a16:creationId xmlns:a16="http://schemas.microsoft.com/office/drawing/2014/main" id="{8DF335FB-15C0-7376-14C3-548BFDC0838E}"/>
                </a:ext>
              </a:extLst>
            </p:cNvPr>
            <p:cNvSpPr>
              <a:spLocks noChangeShapeType="1"/>
            </p:cNvSpPr>
            <p:nvPr/>
          </p:nvSpPr>
          <p:spPr bwMode="auto">
            <a:xfrm>
              <a:off x="822326" y="3581401"/>
              <a:ext cx="105298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2" name="Rectangle 68">
              <a:extLst>
                <a:ext uri="{FF2B5EF4-FFF2-40B4-BE49-F238E27FC236}">
                  <a16:creationId xmlns:a16="http://schemas.microsoft.com/office/drawing/2014/main" id="{0E186281-D6C2-438E-0BFC-06B450C2C16B}"/>
                </a:ext>
              </a:extLst>
            </p:cNvPr>
            <p:cNvSpPr>
              <a:spLocks noChangeArrowheads="1"/>
            </p:cNvSpPr>
            <p:nvPr/>
          </p:nvSpPr>
          <p:spPr bwMode="auto">
            <a:xfrm>
              <a:off x="6929438" y="3625851"/>
              <a:ext cx="609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Uses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3" name="Rectangle 69">
              <a:extLst>
                <a:ext uri="{FF2B5EF4-FFF2-40B4-BE49-F238E27FC236}">
                  <a16:creationId xmlns:a16="http://schemas.microsoft.com/office/drawing/2014/main" id="{209CEC39-635C-436B-A837-CECB4A465057}"/>
                </a:ext>
              </a:extLst>
            </p:cNvPr>
            <p:cNvSpPr>
              <a:spLocks noChangeArrowheads="1"/>
            </p:cNvSpPr>
            <p:nvPr/>
          </p:nvSpPr>
          <p:spPr bwMode="auto">
            <a:xfrm>
              <a:off x="7419976" y="3625851"/>
              <a:ext cx="6683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Azure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 name="Rectangle 70">
              <a:extLst>
                <a:ext uri="{FF2B5EF4-FFF2-40B4-BE49-F238E27FC236}">
                  <a16:creationId xmlns:a16="http://schemas.microsoft.com/office/drawing/2014/main" id="{D2DBF2C3-A296-1AD3-35E9-7A33A4476E09}"/>
                </a:ext>
              </a:extLst>
            </p:cNvPr>
            <p:cNvSpPr>
              <a:spLocks noChangeArrowheads="1"/>
            </p:cNvSpPr>
            <p:nvPr/>
          </p:nvSpPr>
          <p:spPr bwMode="auto">
            <a:xfrm>
              <a:off x="7964488" y="3625851"/>
              <a:ext cx="1920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5" name="Rectangle 71">
              <a:extLst>
                <a:ext uri="{FF2B5EF4-FFF2-40B4-BE49-F238E27FC236}">
                  <a16:creationId xmlns:a16="http://schemas.microsoft.com/office/drawing/2014/main" id="{2E8BB63E-A8D8-839D-8D35-899B591600B7}"/>
                </a:ext>
              </a:extLst>
            </p:cNvPr>
            <p:cNvSpPr>
              <a:spLocks noChangeArrowheads="1"/>
            </p:cNvSpPr>
            <p:nvPr/>
          </p:nvSpPr>
          <p:spPr bwMode="auto">
            <a:xfrm>
              <a:off x="8035926" y="3625851"/>
              <a:ext cx="18954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managed compute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6" name="Rectangle 72">
              <a:extLst>
                <a:ext uri="{FF2B5EF4-FFF2-40B4-BE49-F238E27FC236}">
                  <a16:creationId xmlns:a16="http://schemas.microsoft.com/office/drawing/2014/main" id="{71733383-0911-7866-CF9E-D2270A80B01B}"/>
                </a:ext>
              </a:extLst>
            </p:cNvPr>
            <p:cNvSpPr>
              <a:spLocks noChangeArrowheads="1"/>
            </p:cNvSpPr>
            <p:nvPr/>
          </p:nvSpPr>
          <p:spPr bwMode="auto">
            <a:xfrm>
              <a:off x="3117851" y="3625851"/>
              <a:ext cx="609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Uses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7" name="Rectangle 73">
              <a:extLst>
                <a:ext uri="{FF2B5EF4-FFF2-40B4-BE49-F238E27FC236}">
                  <a16:creationId xmlns:a16="http://schemas.microsoft.com/office/drawing/2014/main" id="{C6F5BE63-75BB-7813-AED9-35A42C0A0727}"/>
                </a:ext>
              </a:extLst>
            </p:cNvPr>
            <p:cNvSpPr>
              <a:spLocks noChangeArrowheads="1"/>
            </p:cNvSpPr>
            <p:nvPr/>
          </p:nvSpPr>
          <p:spPr bwMode="auto">
            <a:xfrm>
              <a:off x="3608388" y="3625851"/>
              <a:ext cx="21224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local compute power</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8" name="Rectangle 74">
              <a:extLst>
                <a:ext uri="{FF2B5EF4-FFF2-40B4-BE49-F238E27FC236}">
                  <a16:creationId xmlns:a16="http://schemas.microsoft.com/office/drawing/2014/main" id="{91EEB559-EF60-019B-F4A4-BF83EE38FF48}"/>
                </a:ext>
              </a:extLst>
            </p:cNvPr>
            <p:cNvSpPr>
              <a:spLocks noChangeArrowheads="1"/>
            </p:cNvSpPr>
            <p:nvPr/>
          </p:nvSpPr>
          <p:spPr bwMode="auto">
            <a:xfrm>
              <a:off x="920751" y="3625851"/>
              <a:ext cx="13493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Performance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92" name="Group 91">
            <a:extLst>
              <a:ext uri="{FF2B5EF4-FFF2-40B4-BE49-F238E27FC236}">
                <a16:creationId xmlns:a16="http://schemas.microsoft.com/office/drawing/2014/main" id="{828DA422-A524-0252-1774-B36A88DDCA1B}"/>
              </a:ext>
            </a:extLst>
          </p:cNvPr>
          <p:cNvGrpSpPr/>
          <p:nvPr/>
        </p:nvGrpSpPr>
        <p:grpSpPr>
          <a:xfrm>
            <a:off x="822326" y="3951288"/>
            <a:ext cx="10529888" cy="384176"/>
            <a:chOff x="822326" y="3951288"/>
            <a:chExt cx="10529888" cy="384176"/>
          </a:xfrm>
        </p:grpSpPr>
        <p:sp>
          <p:nvSpPr>
            <p:cNvPr id="24" name="Rectangle 20">
              <a:extLst>
                <a:ext uri="{FF2B5EF4-FFF2-40B4-BE49-F238E27FC236}">
                  <a16:creationId xmlns:a16="http://schemas.microsoft.com/office/drawing/2014/main" id="{0B04A554-8936-A5DC-BD42-9D7B9DBC81D0}"/>
                </a:ext>
              </a:extLst>
            </p:cNvPr>
            <p:cNvSpPr>
              <a:spLocks noChangeArrowheads="1"/>
            </p:cNvSpPr>
            <p:nvPr/>
          </p:nvSpPr>
          <p:spPr bwMode="auto">
            <a:xfrm>
              <a:off x="828676" y="3951288"/>
              <a:ext cx="2197100"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5" name="Rectangle 21">
              <a:extLst>
                <a:ext uri="{FF2B5EF4-FFF2-40B4-BE49-F238E27FC236}">
                  <a16:creationId xmlns:a16="http://schemas.microsoft.com/office/drawing/2014/main" id="{62D4456D-61E6-33F1-77C0-506709E2D214}"/>
                </a:ext>
              </a:extLst>
            </p:cNvPr>
            <p:cNvSpPr>
              <a:spLocks noChangeArrowheads="1"/>
            </p:cNvSpPr>
            <p:nvPr/>
          </p:nvSpPr>
          <p:spPr bwMode="auto">
            <a:xfrm>
              <a:off x="3025776" y="3951288"/>
              <a:ext cx="3811588"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6" name="Rectangle 22">
              <a:extLst>
                <a:ext uri="{FF2B5EF4-FFF2-40B4-BE49-F238E27FC236}">
                  <a16:creationId xmlns:a16="http://schemas.microsoft.com/office/drawing/2014/main" id="{AA149D88-5690-5595-EBF3-DEF64EC975A4}"/>
                </a:ext>
              </a:extLst>
            </p:cNvPr>
            <p:cNvSpPr>
              <a:spLocks noChangeArrowheads="1"/>
            </p:cNvSpPr>
            <p:nvPr/>
          </p:nvSpPr>
          <p:spPr bwMode="auto">
            <a:xfrm>
              <a:off x="6837363" y="3951288"/>
              <a:ext cx="4508500" cy="371475"/>
            </a:xfrm>
            <a:prstGeom prst="rect">
              <a:avLst/>
            </a:prstGeom>
            <a:solidFill>
              <a:srgbClr val="CDD2D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6" name="Line 32">
              <a:extLst>
                <a:ext uri="{FF2B5EF4-FFF2-40B4-BE49-F238E27FC236}">
                  <a16:creationId xmlns:a16="http://schemas.microsoft.com/office/drawing/2014/main" id="{7908E54B-7F6E-2EF0-B91B-01502E691E28}"/>
                </a:ext>
              </a:extLst>
            </p:cNvPr>
            <p:cNvSpPr>
              <a:spLocks noChangeShapeType="1"/>
            </p:cNvSpPr>
            <p:nvPr/>
          </p:nvSpPr>
          <p:spPr bwMode="auto">
            <a:xfrm>
              <a:off x="822326" y="3951288"/>
              <a:ext cx="105298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9" name="Rectangle 75">
              <a:extLst>
                <a:ext uri="{FF2B5EF4-FFF2-40B4-BE49-F238E27FC236}">
                  <a16:creationId xmlns:a16="http://schemas.microsoft.com/office/drawing/2014/main" id="{8A32E87F-C818-00F9-39AE-F07C90759078}"/>
                </a:ext>
              </a:extLst>
            </p:cNvPr>
            <p:cNvSpPr>
              <a:spLocks noChangeArrowheads="1"/>
            </p:cNvSpPr>
            <p:nvPr/>
          </p:nvSpPr>
          <p:spPr bwMode="auto">
            <a:xfrm>
              <a:off x="6929438" y="3994151"/>
              <a:ext cx="60483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Fully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0" name="Rectangle 76">
              <a:extLst>
                <a:ext uri="{FF2B5EF4-FFF2-40B4-BE49-F238E27FC236}">
                  <a16:creationId xmlns:a16="http://schemas.microsoft.com/office/drawing/2014/main" id="{D491C514-3C0E-D2E3-9061-A8CCE9D17E42}"/>
                </a:ext>
              </a:extLst>
            </p:cNvPr>
            <p:cNvSpPr>
              <a:spLocks noChangeArrowheads="1"/>
            </p:cNvSpPr>
            <p:nvPr/>
          </p:nvSpPr>
          <p:spPr bwMode="auto">
            <a:xfrm>
              <a:off x="7415213" y="3994151"/>
              <a:ext cx="1884363"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managed by Azure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1" name="Rectangle 77">
              <a:extLst>
                <a:ext uri="{FF2B5EF4-FFF2-40B4-BE49-F238E27FC236}">
                  <a16:creationId xmlns:a16="http://schemas.microsoft.com/office/drawing/2014/main" id="{22E849F1-55DC-2959-D7F3-F24C30D94A05}"/>
                </a:ext>
              </a:extLst>
            </p:cNvPr>
            <p:cNvSpPr>
              <a:spLocks noChangeArrowheads="1"/>
            </p:cNvSpPr>
            <p:nvPr/>
          </p:nvSpPr>
          <p:spPr bwMode="auto">
            <a:xfrm>
              <a:off x="3117851" y="3994151"/>
              <a:ext cx="98583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Requires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2" name="Rectangle 78">
              <a:extLst>
                <a:ext uri="{FF2B5EF4-FFF2-40B4-BE49-F238E27FC236}">
                  <a16:creationId xmlns:a16="http://schemas.microsoft.com/office/drawing/2014/main" id="{D111F09F-4FB3-C8E2-7EFF-B87914B09EA4}"/>
                </a:ext>
              </a:extLst>
            </p:cNvPr>
            <p:cNvSpPr>
              <a:spLocks noChangeArrowheads="1"/>
            </p:cNvSpPr>
            <p:nvPr/>
          </p:nvSpPr>
          <p:spPr bwMode="auto">
            <a:xfrm>
              <a:off x="3978276" y="3994151"/>
              <a:ext cx="2574925"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VM setup &amp; configuration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3" name="Rectangle 79">
              <a:extLst>
                <a:ext uri="{FF2B5EF4-FFF2-40B4-BE49-F238E27FC236}">
                  <a16:creationId xmlns:a16="http://schemas.microsoft.com/office/drawing/2014/main" id="{2844B02D-B55C-B535-6EE8-D6BA7A9CE3F0}"/>
                </a:ext>
              </a:extLst>
            </p:cNvPr>
            <p:cNvSpPr>
              <a:spLocks noChangeArrowheads="1"/>
            </p:cNvSpPr>
            <p:nvPr/>
          </p:nvSpPr>
          <p:spPr bwMode="auto">
            <a:xfrm>
              <a:off x="920751" y="3994151"/>
              <a:ext cx="1792288"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Setup Complexity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grpSp>
        <p:nvGrpSpPr>
          <p:cNvPr id="91" name="Group 90">
            <a:extLst>
              <a:ext uri="{FF2B5EF4-FFF2-40B4-BE49-F238E27FC236}">
                <a16:creationId xmlns:a16="http://schemas.microsoft.com/office/drawing/2014/main" id="{7422E8AB-EC19-4268-BB44-9B198BD31F62}"/>
              </a:ext>
            </a:extLst>
          </p:cNvPr>
          <p:cNvGrpSpPr/>
          <p:nvPr/>
        </p:nvGrpSpPr>
        <p:grpSpPr>
          <a:xfrm>
            <a:off x="822326" y="4322763"/>
            <a:ext cx="10529888" cy="654050"/>
            <a:chOff x="822326" y="4322763"/>
            <a:chExt cx="10529888" cy="654050"/>
          </a:xfrm>
        </p:grpSpPr>
        <p:sp>
          <p:nvSpPr>
            <p:cNvPr id="27" name="Rectangle 23">
              <a:extLst>
                <a:ext uri="{FF2B5EF4-FFF2-40B4-BE49-F238E27FC236}">
                  <a16:creationId xmlns:a16="http://schemas.microsoft.com/office/drawing/2014/main" id="{AD56E009-7FD7-E8EB-CB1F-4402E68E51B8}"/>
                </a:ext>
              </a:extLst>
            </p:cNvPr>
            <p:cNvSpPr>
              <a:spLocks noChangeArrowheads="1"/>
            </p:cNvSpPr>
            <p:nvPr/>
          </p:nvSpPr>
          <p:spPr bwMode="auto">
            <a:xfrm>
              <a:off x="828676" y="4322763"/>
              <a:ext cx="2197100"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8" name="Rectangle 24">
              <a:extLst>
                <a:ext uri="{FF2B5EF4-FFF2-40B4-BE49-F238E27FC236}">
                  <a16:creationId xmlns:a16="http://schemas.microsoft.com/office/drawing/2014/main" id="{3C50D7FB-4B29-72D3-5A43-4D49F9C7AA9D}"/>
                </a:ext>
              </a:extLst>
            </p:cNvPr>
            <p:cNvSpPr>
              <a:spLocks noChangeArrowheads="1"/>
            </p:cNvSpPr>
            <p:nvPr/>
          </p:nvSpPr>
          <p:spPr bwMode="auto">
            <a:xfrm>
              <a:off x="3025776" y="4322763"/>
              <a:ext cx="3811588"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29" name="Rectangle 25">
              <a:extLst>
                <a:ext uri="{FF2B5EF4-FFF2-40B4-BE49-F238E27FC236}">
                  <a16:creationId xmlns:a16="http://schemas.microsoft.com/office/drawing/2014/main" id="{9CC670F2-FEA7-9D0F-B079-F19A0272196C}"/>
                </a:ext>
              </a:extLst>
            </p:cNvPr>
            <p:cNvSpPr>
              <a:spLocks noChangeArrowheads="1"/>
            </p:cNvSpPr>
            <p:nvPr/>
          </p:nvSpPr>
          <p:spPr bwMode="auto">
            <a:xfrm>
              <a:off x="6837363" y="4322763"/>
              <a:ext cx="4508500" cy="639763"/>
            </a:xfrm>
            <a:prstGeom prst="rect">
              <a:avLst/>
            </a:prstGeom>
            <a:solidFill>
              <a:srgbClr val="E8EA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37" name="Line 33">
              <a:extLst>
                <a:ext uri="{FF2B5EF4-FFF2-40B4-BE49-F238E27FC236}">
                  <a16:creationId xmlns:a16="http://schemas.microsoft.com/office/drawing/2014/main" id="{ED671DB6-59C6-9C02-AEB9-1E2BEEB1CC0C}"/>
                </a:ext>
              </a:extLst>
            </p:cNvPr>
            <p:cNvSpPr>
              <a:spLocks noChangeShapeType="1"/>
            </p:cNvSpPr>
            <p:nvPr/>
          </p:nvSpPr>
          <p:spPr bwMode="auto">
            <a:xfrm>
              <a:off x="822326" y="4322763"/>
              <a:ext cx="105298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 name="Line 37">
              <a:extLst>
                <a:ext uri="{FF2B5EF4-FFF2-40B4-BE49-F238E27FC236}">
                  <a16:creationId xmlns:a16="http://schemas.microsoft.com/office/drawing/2014/main" id="{181AEF3C-68BD-65AA-E16E-0E33D6943E38}"/>
                </a:ext>
              </a:extLst>
            </p:cNvPr>
            <p:cNvSpPr>
              <a:spLocks noChangeShapeType="1"/>
            </p:cNvSpPr>
            <p:nvPr/>
          </p:nvSpPr>
          <p:spPr bwMode="auto">
            <a:xfrm>
              <a:off x="822326" y="4962526"/>
              <a:ext cx="10529888"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4" name="Rectangle 80">
              <a:extLst>
                <a:ext uri="{FF2B5EF4-FFF2-40B4-BE49-F238E27FC236}">
                  <a16:creationId xmlns:a16="http://schemas.microsoft.com/office/drawing/2014/main" id="{A6C957BB-ED8C-641A-5D8A-48D464463142}"/>
                </a:ext>
              </a:extLst>
            </p:cNvPr>
            <p:cNvSpPr>
              <a:spLocks noChangeArrowheads="1"/>
            </p:cNvSpPr>
            <p:nvPr/>
          </p:nvSpPr>
          <p:spPr bwMode="auto">
            <a:xfrm>
              <a:off x="6929438" y="4502151"/>
              <a:ext cx="12684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Automating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5" name="Rectangle 81">
              <a:extLst>
                <a:ext uri="{FF2B5EF4-FFF2-40B4-BE49-F238E27FC236}">
                  <a16:creationId xmlns:a16="http://schemas.microsoft.com/office/drawing/2014/main" id="{C78446BA-ED38-BA6C-D3DC-50F47C0C344A}"/>
                </a:ext>
              </a:extLst>
            </p:cNvPr>
            <p:cNvSpPr>
              <a:spLocks noChangeArrowheads="1"/>
            </p:cNvSpPr>
            <p:nvPr/>
          </p:nvSpPr>
          <p:spPr bwMode="auto">
            <a:xfrm>
              <a:off x="8075613" y="4502151"/>
              <a:ext cx="17494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Azure VM scaling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6" name="Rectangle 82">
              <a:extLst>
                <a:ext uri="{FF2B5EF4-FFF2-40B4-BE49-F238E27FC236}">
                  <a16:creationId xmlns:a16="http://schemas.microsoft.com/office/drawing/2014/main" id="{99893DE2-4A07-D248-579D-AA9DC02B8435}"/>
                </a:ext>
              </a:extLst>
            </p:cNvPr>
            <p:cNvSpPr>
              <a:spLocks noChangeArrowheads="1"/>
            </p:cNvSpPr>
            <p:nvPr/>
          </p:nvSpPr>
          <p:spPr bwMode="auto">
            <a:xfrm>
              <a:off x="3117851" y="4365626"/>
              <a:ext cx="32718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Calibri" panose="020F0502020204030204" pitchFamily="34" charset="0"/>
                </a:rPr>
                <a:t>Running scripts that interact with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7" name="Rectangle 83">
              <a:extLst>
                <a:ext uri="{FF2B5EF4-FFF2-40B4-BE49-F238E27FC236}">
                  <a16:creationId xmlns:a16="http://schemas.microsoft.com/office/drawing/2014/main" id="{0D67E9AD-6DA7-C5F4-79A8-1738A6F9638A}"/>
                </a:ext>
              </a:extLst>
            </p:cNvPr>
            <p:cNvSpPr>
              <a:spLocks noChangeArrowheads="1"/>
            </p:cNvSpPr>
            <p:nvPr/>
          </p:nvSpPr>
          <p:spPr bwMode="auto">
            <a:xfrm>
              <a:off x="6259513" y="4365626"/>
              <a:ext cx="3651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8" name="Rectangle 84">
              <a:extLst>
                <a:ext uri="{FF2B5EF4-FFF2-40B4-BE49-F238E27FC236}">
                  <a16:creationId xmlns:a16="http://schemas.microsoft.com/office/drawing/2014/main" id="{02A824B6-8701-3F0D-F829-A5F891E5ACF9}"/>
                </a:ext>
              </a:extLst>
            </p:cNvPr>
            <p:cNvSpPr>
              <a:spLocks noChangeArrowheads="1"/>
            </p:cNvSpPr>
            <p:nvPr/>
          </p:nvSpPr>
          <p:spPr bwMode="auto">
            <a:xfrm>
              <a:off x="6507163" y="4365626"/>
              <a:ext cx="1920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9" name="Rectangle 85">
              <a:extLst>
                <a:ext uri="{FF2B5EF4-FFF2-40B4-BE49-F238E27FC236}">
                  <a16:creationId xmlns:a16="http://schemas.microsoft.com/office/drawing/2014/main" id="{5FF7132E-CD75-DA7E-8200-542A13CE1810}"/>
                </a:ext>
              </a:extLst>
            </p:cNvPr>
            <p:cNvSpPr>
              <a:spLocks noChangeArrowheads="1"/>
            </p:cNvSpPr>
            <p:nvPr/>
          </p:nvSpPr>
          <p:spPr bwMode="auto">
            <a:xfrm>
              <a:off x="3117851" y="4637088"/>
              <a:ext cx="962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prem AD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0" name="Rectangle 86">
              <a:extLst>
                <a:ext uri="{FF2B5EF4-FFF2-40B4-BE49-F238E27FC236}">
                  <a16:creationId xmlns:a16="http://schemas.microsoft.com/office/drawing/2014/main" id="{046463B6-C4EA-C82F-FE1A-EA53CBD73142}"/>
                </a:ext>
              </a:extLst>
            </p:cNvPr>
            <p:cNvSpPr>
              <a:spLocks noChangeArrowheads="1"/>
            </p:cNvSpPr>
            <p:nvPr/>
          </p:nvSpPr>
          <p:spPr bwMode="auto">
            <a:xfrm>
              <a:off x="920751" y="4502151"/>
              <a:ext cx="18303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rgbClr val="000000"/>
                  </a:solidFill>
                  <a:effectLst/>
                  <a:latin typeface="Calibri" panose="020F0502020204030204" pitchFamily="34" charset="0"/>
                </a:rPr>
                <a:t>Use Case Example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2423515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842BF-F50B-DF68-058B-3B10AD10FEC9}"/>
              </a:ext>
            </a:extLst>
          </p:cNvPr>
          <p:cNvSpPr>
            <a:spLocks noGrp="1"/>
          </p:cNvSpPr>
          <p:nvPr>
            <p:ph type="title"/>
          </p:nvPr>
        </p:nvSpPr>
        <p:spPr/>
        <p:txBody>
          <a:bodyPr>
            <a:normAutofit/>
          </a:bodyPr>
          <a:lstStyle/>
          <a:p>
            <a:r>
              <a:rPr lang="en-GB" dirty="0"/>
              <a:t>Example Use Cases</a:t>
            </a:r>
          </a:p>
        </p:txBody>
      </p:sp>
      <p:sp>
        <p:nvSpPr>
          <p:cNvPr id="3" name="Content Placeholder 2">
            <a:extLst>
              <a:ext uri="{FF2B5EF4-FFF2-40B4-BE49-F238E27FC236}">
                <a16:creationId xmlns:a16="http://schemas.microsoft.com/office/drawing/2014/main" id="{7BBB0726-6348-A028-71C7-1BB4A8A1D0DE}"/>
              </a:ext>
            </a:extLst>
          </p:cNvPr>
          <p:cNvSpPr>
            <a:spLocks noGrp="1"/>
          </p:cNvSpPr>
          <p:nvPr>
            <p:ph idx="1"/>
          </p:nvPr>
        </p:nvSpPr>
        <p:spPr/>
        <p:txBody>
          <a:bodyPr/>
          <a:lstStyle/>
          <a:p>
            <a:r>
              <a:rPr lang="en-GB" dirty="0"/>
              <a:t>Calling an API to delete records from a database</a:t>
            </a:r>
          </a:p>
          <a:p>
            <a:r>
              <a:rPr lang="en-GB" dirty="0"/>
              <a:t>MongoDB Scaling</a:t>
            </a:r>
          </a:p>
          <a:p>
            <a:r>
              <a:rPr lang="en-GB" dirty="0"/>
              <a:t>Creating Azure DevOps Tickets on a schedule</a:t>
            </a:r>
          </a:p>
          <a:p>
            <a:r>
              <a:rPr lang="en-GB" dirty="0"/>
              <a:t>…</a:t>
            </a:r>
          </a:p>
          <a:p>
            <a:endParaRPr lang="en-GB" dirty="0"/>
          </a:p>
          <a:p>
            <a:r>
              <a:rPr lang="en-GB" dirty="0"/>
              <a:t>Keeping your Azure tenant tidy</a:t>
            </a:r>
          </a:p>
          <a:p>
            <a:endParaRPr lang="en-GB" dirty="0"/>
          </a:p>
        </p:txBody>
      </p:sp>
    </p:spTree>
    <p:extLst>
      <p:ext uri="{BB962C8B-B14F-4D97-AF65-F5344CB8AC3E}">
        <p14:creationId xmlns:p14="http://schemas.microsoft.com/office/powerpoint/2010/main" val="2745354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167248-C99C-E892-89E1-4CBB81F02F90}"/>
              </a:ext>
            </a:extLst>
          </p:cNvPr>
          <p:cNvSpPr>
            <a:spLocks noGrp="1"/>
          </p:cNvSpPr>
          <p:nvPr>
            <p:ph type="title"/>
          </p:nvPr>
        </p:nvSpPr>
        <p:spPr>
          <a:xfrm>
            <a:off x="831850" y="529389"/>
            <a:ext cx="10515600" cy="1004637"/>
          </a:xfrm>
        </p:spPr>
        <p:txBody>
          <a:bodyPr/>
          <a:lstStyle/>
          <a:p>
            <a:r>
              <a:rPr lang="en-GB"/>
              <a:t>Demos</a:t>
            </a:r>
          </a:p>
        </p:txBody>
      </p:sp>
      <p:sp>
        <p:nvSpPr>
          <p:cNvPr id="5" name="Text Placeholder 4">
            <a:extLst>
              <a:ext uri="{FF2B5EF4-FFF2-40B4-BE49-F238E27FC236}">
                <a16:creationId xmlns:a16="http://schemas.microsoft.com/office/drawing/2014/main" id="{2CACAFC7-78CB-98F9-FEF3-D3E8C9FF6E6F}"/>
              </a:ext>
            </a:extLst>
          </p:cNvPr>
          <p:cNvSpPr>
            <a:spLocks noGrp="1"/>
          </p:cNvSpPr>
          <p:nvPr>
            <p:ph type="body" idx="1"/>
          </p:nvPr>
        </p:nvSpPr>
        <p:spPr>
          <a:xfrm>
            <a:off x="831850" y="1653758"/>
            <a:ext cx="10515600" cy="1500187"/>
          </a:xfrm>
        </p:spPr>
        <p:txBody>
          <a:bodyPr/>
          <a:lstStyle/>
          <a:p>
            <a:r>
              <a:rPr lang="en-GB"/>
              <a:t>We love Demos!</a:t>
            </a:r>
          </a:p>
        </p:txBody>
      </p:sp>
      <p:pic>
        <p:nvPicPr>
          <p:cNvPr id="9" name="Picture 9">
            <a:extLst>
              <a:ext uri="{FF2B5EF4-FFF2-40B4-BE49-F238E27FC236}">
                <a16:creationId xmlns:a16="http://schemas.microsoft.com/office/drawing/2014/main" id="{776AC288-703A-8014-23CA-E040CDD7E976}"/>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404191" y="615392"/>
            <a:ext cx="6127897" cy="5060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7259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063F7B61-5334-421F-9456-A905D333F4B3}"/>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GB"/>
              <a:t>Q&amp;A</a:t>
            </a:r>
          </a:p>
        </p:txBody>
      </p:sp>
      <p:sp>
        <p:nvSpPr>
          <p:cNvPr id="10" name="Text Placeholder 4">
            <a:extLst>
              <a:ext uri="{FF2B5EF4-FFF2-40B4-BE49-F238E27FC236}">
                <a16:creationId xmlns:a16="http://schemas.microsoft.com/office/drawing/2014/main" id="{E7911686-C4FE-022C-2490-99F4F5BFDF39}"/>
              </a:ext>
            </a:extLst>
          </p:cNvPr>
          <p:cNvSpPr txBox="1">
            <a:spLocks/>
          </p:cNvSpPr>
          <p:nvPr/>
        </p:nvSpPr>
        <p:spPr>
          <a:xfrm>
            <a:off x="831850" y="1653758"/>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GB"/>
              <a:t>15 minutes</a:t>
            </a:r>
          </a:p>
        </p:txBody>
      </p:sp>
      <p:pic>
        <p:nvPicPr>
          <p:cNvPr id="2" name="Picture 2">
            <a:extLst>
              <a:ext uri="{FF2B5EF4-FFF2-40B4-BE49-F238E27FC236}">
                <a16:creationId xmlns:a16="http://schemas.microsoft.com/office/drawing/2014/main" id="{04697E65-3DA9-6EF3-472C-734FB98C3839}"/>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2731477" y="1770873"/>
            <a:ext cx="6729046" cy="35917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34842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5B32-5508-746F-68D8-7CD5B87075B3}"/>
              </a:ext>
            </a:extLst>
          </p:cNvPr>
          <p:cNvSpPr>
            <a:spLocks noGrp="1"/>
          </p:cNvSpPr>
          <p:nvPr>
            <p:ph type="title"/>
          </p:nvPr>
        </p:nvSpPr>
        <p:spPr/>
        <p:txBody>
          <a:bodyPr/>
          <a:lstStyle/>
          <a:p>
            <a:r>
              <a:rPr lang="en-GB"/>
              <a:t>Instructions</a:t>
            </a:r>
          </a:p>
        </p:txBody>
      </p:sp>
      <p:sp>
        <p:nvSpPr>
          <p:cNvPr id="3" name="Content Placeholder 2">
            <a:extLst>
              <a:ext uri="{FF2B5EF4-FFF2-40B4-BE49-F238E27FC236}">
                <a16:creationId xmlns:a16="http://schemas.microsoft.com/office/drawing/2014/main" id="{66E58DE9-2079-E03F-78A8-7FE2D8B2F0E7}"/>
              </a:ext>
            </a:extLst>
          </p:cNvPr>
          <p:cNvSpPr>
            <a:spLocks noGrp="1"/>
          </p:cNvSpPr>
          <p:nvPr>
            <p:ph idx="1"/>
          </p:nvPr>
        </p:nvSpPr>
        <p:spPr/>
        <p:txBody>
          <a:bodyPr>
            <a:normAutofit lnSpcReduction="10000"/>
          </a:bodyPr>
          <a:lstStyle/>
          <a:p>
            <a:r>
              <a:rPr lang="en-GB"/>
              <a:t>Use this template if you want, it’s preferred but not mandatory.</a:t>
            </a:r>
          </a:p>
          <a:p>
            <a:r>
              <a:rPr lang="en-GB"/>
              <a:t>Please make sure our sponsors are mentioned on your first slide after the title.</a:t>
            </a:r>
          </a:p>
          <a:p>
            <a:r>
              <a:rPr lang="en-GB"/>
              <a:t>Do not amend the ratio or the colours of the sponsors’ logo and background.</a:t>
            </a:r>
          </a:p>
          <a:p>
            <a:r>
              <a:rPr lang="en-GB"/>
              <a:t>Update your twitter handle through the master page (see next slides).</a:t>
            </a:r>
          </a:p>
          <a:p>
            <a:endParaRPr lang="en-GB"/>
          </a:p>
        </p:txBody>
      </p:sp>
    </p:spTree>
    <p:extLst>
      <p:ext uri="{BB962C8B-B14F-4D97-AF65-F5344CB8AC3E}">
        <p14:creationId xmlns:p14="http://schemas.microsoft.com/office/powerpoint/2010/main" val="34223637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E053C-741E-8349-0EAA-61BB90AA5C8A}"/>
              </a:ext>
            </a:extLst>
          </p:cNvPr>
          <p:cNvSpPr>
            <a:spLocks noGrp="1"/>
          </p:cNvSpPr>
          <p:nvPr>
            <p:ph type="title"/>
          </p:nvPr>
        </p:nvSpPr>
        <p:spPr/>
        <p:txBody>
          <a:bodyPr/>
          <a:lstStyle/>
          <a:p>
            <a:r>
              <a:rPr lang="en-GB"/>
              <a:t>Instruction (Continued)</a:t>
            </a:r>
          </a:p>
        </p:txBody>
      </p:sp>
      <p:sp>
        <p:nvSpPr>
          <p:cNvPr id="3" name="Content Placeholder 2">
            <a:extLst>
              <a:ext uri="{FF2B5EF4-FFF2-40B4-BE49-F238E27FC236}">
                <a16:creationId xmlns:a16="http://schemas.microsoft.com/office/drawing/2014/main" id="{D7E72C65-167D-1927-2A32-0E6E760ABC81}"/>
              </a:ext>
            </a:extLst>
          </p:cNvPr>
          <p:cNvSpPr>
            <a:spLocks noGrp="1"/>
          </p:cNvSpPr>
          <p:nvPr>
            <p:ph idx="1"/>
          </p:nvPr>
        </p:nvSpPr>
        <p:spPr/>
        <p:txBody>
          <a:bodyPr/>
          <a:lstStyle/>
          <a:p>
            <a:r>
              <a:rPr lang="en-GB"/>
              <a:t>The session is 30 min.</a:t>
            </a:r>
          </a:p>
          <a:p>
            <a:r>
              <a:rPr lang="en-GB"/>
              <a:t>Then 15min Q&amp;A.</a:t>
            </a:r>
          </a:p>
          <a:p>
            <a:r>
              <a:rPr lang="en-GB"/>
              <a:t>At the end of your 45 min, please leave the room to the next speaker.</a:t>
            </a:r>
          </a:p>
          <a:p>
            <a:r>
              <a:rPr lang="en-GB"/>
              <a:t>You’re welcome to continue the discussion in the Foyer area.</a:t>
            </a:r>
          </a:p>
        </p:txBody>
      </p:sp>
    </p:spTree>
    <p:extLst>
      <p:ext uri="{BB962C8B-B14F-4D97-AF65-F5344CB8AC3E}">
        <p14:creationId xmlns:p14="http://schemas.microsoft.com/office/powerpoint/2010/main" val="29610066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5F8504-5E64-81CC-A46D-F76242C873BB}"/>
              </a:ext>
            </a:extLst>
          </p:cNvPr>
          <p:cNvSpPr>
            <a:spLocks noGrp="1"/>
          </p:cNvSpPr>
          <p:nvPr>
            <p:ph type="title"/>
          </p:nvPr>
        </p:nvSpPr>
        <p:spPr/>
        <p:txBody>
          <a:bodyPr>
            <a:noAutofit/>
          </a:bodyPr>
          <a:lstStyle/>
          <a:p>
            <a:r>
              <a:rPr lang="fr-FR" sz="3600"/>
              <a:t>Update the twitter </a:t>
            </a:r>
            <a:r>
              <a:rPr lang="fr-FR" sz="3600" err="1"/>
              <a:t>handle</a:t>
            </a:r>
            <a:r>
              <a:rPr lang="fr-FR" sz="3600"/>
              <a:t> on the master slide</a:t>
            </a:r>
            <a:endParaRPr lang="en-GB" sz="3600"/>
          </a:p>
        </p:txBody>
      </p:sp>
      <p:sp>
        <p:nvSpPr>
          <p:cNvPr id="3" name="Espace réservé du contenu 2">
            <a:extLst>
              <a:ext uri="{FF2B5EF4-FFF2-40B4-BE49-F238E27FC236}">
                <a16:creationId xmlns:a16="http://schemas.microsoft.com/office/drawing/2014/main" id="{6730485E-47C1-6161-8B16-E1696FB2022C}"/>
              </a:ext>
            </a:extLst>
          </p:cNvPr>
          <p:cNvSpPr>
            <a:spLocks noGrp="1"/>
          </p:cNvSpPr>
          <p:nvPr>
            <p:ph idx="1"/>
          </p:nvPr>
        </p:nvSpPr>
        <p:spPr/>
        <p:txBody>
          <a:bodyPr>
            <a:normAutofit fontScale="70000" lnSpcReduction="20000"/>
          </a:bodyPr>
          <a:lstStyle/>
          <a:p>
            <a:pPr marL="0" indent="0">
              <a:buNone/>
            </a:pPr>
            <a:r>
              <a:rPr lang="en-GB"/>
              <a:t>To open the slide master:</a:t>
            </a:r>
          </a:p>
          <a:p>
            <a:pPr marL="0" indent="0">
              <a:buNone/>
            </a:pPr>
            <a:endParaRPr lang="en-GB"/>
          </a:p>
          <a:p>
            <a:pPr marL="0" indent="0">
              <a:buNone/>
            </a:pPr>
            <a:endParaRPr lang="en-GB"/>
          </a:p>
          <a:p>
            <a:pPr marL="0" indent="0">
              <a:buNone/>
            </a:pPr>
            <a:endParaRPr lang="en-GB"/>
          </a:p>
          <a:p>
            <a:pPr marL="0" indent="0">
              <a:buNone/>
            </a:pPr>
            <a:endParaRPr lang="en-GB"/>
          </a:p>
          <a:p>
            <a:pPr marL="0" indent="0">
              <a:buNone/>
            </a:pPr>
            <a:r>
              <a:rPr lang="en-GB"/>
              <a:t>To close the Master view:</a:t>
            </a:r>
          </a:p>
          <a:p>
            <a:pPr marL="0" indent="0">
              <a:buNone/>
            </a:pPr>
            <a:endParaRPr lang="en-GB"/>
          </a:p>
          <a:p>
            <a:pPr marL="0" indent="0">
              <a:buNone/>
            </a:pPr>
            <a:endParaRPr lang="en-GB"/>
          </a:p>
          <a:p>
            <a:pPr marL="0" indent="0">
              <a:buNone/>
            </a:pPr>
            <a:endParaRPr lang="en-GB"/>
          </a:p>
          <a:p>
            <a:pPr marL="0" indent="0">
              <a:buNone/>
            </a:pPr>
            <a:endParaRPr lang="en-GB"/>
          </a:p>
          <a:p>
            <a:pPr marL="0" indent="0">
              <a:buNone/>
            </a:pPr>
            <a:r>
              <a:rPr lang="fr-FR"/>
              <a:t>If </a:t>
            </a:r>
            <a:r>
              <a:rPr lang="fr-FR" err="1"/>
              <a:t>you</a:t>
            </a:r>
            <a:r>
              <a:rPr lang="fr-FR"/>
              <a:t> </a:t>
            </a:r>
            <a:r>
              <a:rPr lang="fr-FR" err="1"/>
              <a:t>need</a:t>
            </a:r>
            <a:r>
              <a:rPr lang="fr-FR"/>
              <a:t> </a:t>
            </a:r>
            <a:r>
              <a:rPr lang="fr-FR" err="1"/>
              <a:t>any</a:t>
            </a:r>
            <a:r>
              <a:rPr lang="fr-FR"/>
              <a:t> help, do not </a:t>
            </a:r>
            <a:r>
              <a:rPr lang="fr-FR" err="1"/>
              <a:t>hesitate</a:t>
            </a:r>
            <a:r>
              <a:rPr lang="fr-FR"/>
              <a:t> to email us at </a:t>
            </a:r>
            <a:r>
              <a:rPr lang="fr-FR">
                <a:hlinkClick r:id="rId2"/>
              </a:rPr>
              <a:t>psconfeu@synedgy.com</a:t>
            </a:r>
            <a:r>
              <a:rPr lang="fr-FR"/>
              <a:t> </a:t>
            </a:r>
            <a:endParaRPr lang="en-GB"/>
          </a:p>
          <a:p>
            <a:pPr marL="0" indent="0">
              <a:buNone/>
            </a:pPr>
            <a:endParaRPr lang="en-GB"/>
          </a:p>
        </p:txBody>
      </p:sp>
      <p:pic>
        <p:nvPicPr>
          <p:cNvPr id="5" name="Picture 4">
            <a:extLst>
              <a:ext uri="{FF2B5EF4-FFF2-40B4-BE49-F238E27FC236}">
                <a16:creationId xmlns:a16="http://schemas.microsoft.com/office/drawing/2014/main" id="{E3D88325-FDF3-34EC-672B-1ACC66954910}"/>
              </a:ext>
            </a:extLst>
          </p:cNvPr>
          <p:cNvPicPr>
            <a:picLocks noChangeAspect="1"/>
          </p:cNvPicPr>
          <p:nvPr/>
        </p:nvPicPr>
        <p:blipFill>
          <a:blip r:embed="rId3"/>
          <a:stretch>
            <a:fillRect/>
          </a:stretch>
        </p:blipFill>
        <p:spPr>
          <a:xfrm>
            <a:off x="989480" y="2209121"/>
            <a:ext cx="9867808" cy="1590674"/>
          </a:xfrm>
          <a:prstGeom prst="rect">
            <a:avLst/>
          </a:prstGeom>
        </p:spPr>
      </p:pic>
      <p:pic>
        <p:nvPicPr>
          <p:cNvPr id="7" name="Picture 6">
            <a:extLst>
              <a:ext uri="{FF2B5EF4-FFF2-40B4-BE49-F238E27FC236}">
                <a16:creationId xmlns:a16="http://schemas.microsoft.com/office/drawing/2014/main" id="{9A1D1015-DF85-9779-1F95-B294BC9EA0FA}"/>
              </a:ext>
            </a:extLst>
          </p:cNvPr>
          <p:cNvPicPr>
            <a:picLocks noChangeAspect="1"/>
          </p:cNvPicPr>
          <p:nvPr/>
        </p:nvPicPr>
        <p:blipFill>
          <a:blip r:embed="rId4"/>
          <a:stretch>
            <a:fillRect/>
          </a:stretch>
        </p:blipFill>
        <p:spPr>
          <a:xfrm>
            <a:off x="989480" y="4299923"/>
            <a:ext cx="9820034" cy="1442103"/>
          </a:xfrm>
          <a:prstGeom prst="rect">
            <a:avLst/>
          </a:prstGeom>
        </p:spPr>
      </p:pic>
    </p:spTree>
    <p:extLst>
      <p:ext uri="{BB962C8B-B14F-4D97-AF65-F5344CB8AC3E}">
        <p14:creationId xmlns:p14="http://schemas.microsoft.com/office/powerpoint/2010/main" val="2416780850"/>
      </p:ext>
    </p:extLst>
  </p:cSld>
  <p:clrMapOvr>
    <a:masterClrMapping/>
  </p:clrMapOvr>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peaker's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a:themeElements>
    <a:clrScheme name="PSConfEU">
      <a:dk1>
        <a:sysClr val="windowText" lastClr="000000"/>
      </a:dk1>
      <a:lt1>
        <a:sysClr val="window" lastClr="FFFFFF"/>
      </a:lt1>
      <a:dk2>
        <a:srgbClr val="44546A"/>
      </a:dk2>
      <a:lt2>
        <a:srgbClr val="E7E6E6"/>
      </a:lt2>
      <a:accent1>
        <a:srgbClr val="326198"/>
      </a:accent1>
      <a:accent2>
        <a:srgbClr val="ED7D31"/>
      </a:accent2>
      <a:accent3>
        <a:srgbClr val="A5A5A5"/>
      </a:accent3>
      <a:accent4>
        <a:srgbClr val="FFC000"/>
      </a:accent4>
      <a:accent5>
        <a:srgbClr val="5B9BD5"/>
      </a:accent5>
      <a:accent6>
        <a:srgbClr val="70AD47"/>
      </a:accent6>
      <a:hlink>
        <a:srgbClr val="0563C1"/>
      </a:hlink>
      <a:folHlink>
        <a:srgbClr val="0563C1"/>
      </a:folHlink>
    </a:clrScheme>
    <a:fontScheme name="PSConfEU202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8c243a5-121d-4837-b81c-114e1b569ece">
      <Terms xmlns="http://schemas.microsoft.com/office/infopath/2007/PartnerControls"/>
    </lcf76f155ced4ddcb4097134ff3c332f>
    <TaxCatchAll xmlns="77f18391-c91f-4725-9130-63caf76c180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910B4CA76F661498C662C4D69800553" ma:contentTypeVersion="13" ma:contentTypeDescription="Create a new document." ma:contentTypeScope="" ma:versionID="8e04fcd09f7a7dfd06ff4a6ceabf43dc">
  <xsd:schema xmlns:xsd="http://www.w3.org/2001/XMLSchema" xmlns:xs="http://www.w3.org/2001/XMLSchema" xmlns:p="http://schemas.microsoft.com/office/2006/metadata/properties" xmlns:ns2="58c243a5-121d-4837-b81c-114e1b569ece" xmlns:ns3="77f18391-c91f-4725-9130-63caf76c1806" targetNamespace="http://schemas.microsoft.com/office/2006/metadata/properties" ma:root="true" ma:fieldsID="665b7cb087352da028993c4fb985284c" ns2:_="" ns3:_="">
    <xsd:import namespace="58c243a5-121d-4837-b81c-114e1b569ece"/>
    <xsd:import namespace="77f18391-c91f-4725-9130-63caf76c180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c243a5-121d-4837-b81c-114e1b569e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d613703-4b30-4a23-b3bf-9e58a81c4af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7f18391-c91f-4725-9130-63caf76c180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308bfb8-9000-4349-8794-c2de05f0bbcb}" ma:internalName="TaxCatchAll" ma:showField="CatchAllData" ma:web="77f18391-c91f-4725-9130-63caf76c180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9C06E3-346E-408E-B352-32E922A070CE}">
  <ds:schemaRefs>
    <ds:schemaRef ds:uri="http://schemas.microsoft.com/office/2006/metadata/properties"/>
    <ds:schemaRef ds:uri="http://schemas.microsoft.com/office/infopath/2007/PartnerControls"/>
    <ds:schemaRef ds:uri="2347cc20-e10c-452d-848a-c18e83138525"/>
    <ds:schemaRef ds:uri="85c0ce47-fe9c-4809-bf88-519c39a738e6"/>
    <ds:schemaRef ds:uri="58c243a5-121d-4837-b81c-114e1b569ece"/>
    <ds:schemaRef ds:uri="77f18391-c91f-4725-9130-63caf76c1806"/>
  </ds:schemaRefs>
</ds:datastoreItem>
</file>

<file path=customXml/itemProps2.xml><?xml version="1.0" encoding="utf-8"?>
<ds:datastoreItem xmlns:ds="http://schemas.openxmlformats.org/officeDocument/2006/customXml" ds:itemID="{57D9B22B-F436-4FE5-B6C0-65AB2260F593}">
  <ds:schemaRefs>
    <ds:schemaRef ds:uri="http://schemas.microsoft.com/sharepoint/v3/contenttype/forms"/>
  </ds:schemaRefs>
</ds:datastoreItem>
</file>

<file path=customXml/itemProps3.xml><?xml version="1.0" encoding="utf-8"?>
<ds:datastoreItem xmlns:ds="http://schemas.openxmlformats.org/officeDocument/2006/customXml" ds:itemID="{79243F5F-D51B-403B-A401-EA162F2762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c243a5-121d-4837-b81c-114e1b569ece"/>
    <ds:schemaRef ds:uri="77f18391-c91f-4725-9130-63caf76c18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2018</Words>
  <Application>Microsoft Office PowerPoint</Application>
  <PresentationFormat>Widescreen</PresentationFormat>
  <Paragraphs>338</Paragraphs>
  <Slides>28</Slides>
  <Notes>20</Notes>
  <HiddenSlides>4</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28</vt:i4>
      </vt:variant>
    </vt:vector>
  </HeadingPairs>
  <TitlesOfParts>
    <vt:vector size="40" baseType="lpstr">
      <vt:lpstr>Aptos</vt:lpstr>
      <vt:lpstr>Arial</vt:lpstr>
      <vt:lpstr>Calibri</vt:lpstr>
      <vt:lpstr>Courier New</vt:lpstr>
      <vt:lpstr>Segoe UI</vt:lpstr>
      <vt:lpstr>Segoe UI Light</vt:lpstr>
      <vt:lpstr>Stencil</vt:lpstr>
      <vt:lpstr>Wingdings</vt:lpstr>
      <vt:lpstr>Title</vt:lpstr>
      <vt:lpstr>Blank</vt:lpstr>
      <vt:lpstr>Speaker's slide</vt:lpstr>
      <vt:lpstr>Content</vt:lpstr>
      <vt:lpstr>README</vt:lpstr>
      <vt:lpstr>Next Up:</vt:lpstr>
      <vt:lpstr>3</vt:lpstr>
      <vt:lpstr>2</vt:lpstr>
      <vt:lpstr>1</vt:lpstr>
      <vt:lpstr>Unleashing PowerShell in the Cloud with Azure Automation</vt:lpstr>
      <vt:lpstr>Many thanks to our sponsors:</vt:lpstr>
      <vt:lpstr>Jess Pomfret  She/Her</vt:lpstr>
      <vt:lpstr>The old days… </vt:lpstr>
      <vt:lpstr>PowerPoint Presentation</vt:lpstr>
      <vt:lpstr>Azure Services</vt:lpstr>
      <vt:lpstr>But where is our PowerShell now?</vt:lpstr>
      <vt:lpstr>Azure Cloud Shell</vt:lpstr>
      <vt:lpstr>But where is our PowerShell now?</vt:lpstr>
      <vt:lpstr>Serverless Automation in Azure</vt:lpstr>
      <vt:lpstr>Serverless Automation in Azure</vt:lpstr>
      <vt:lpstr>But where is our PowerShell now?</vt:lpstr>
      <vt:lpstr>Azure VM</vt:lpstr>
      <vt:lpstr>Unleashing PowerShell in the Cloud with Azure Automation</vt:lpstr>
      <vt:lpstr>Azure Automation</vt:lpstr>
      <vt:lpstr>Runtime Environments</vt:lpstr>
      <vt:lpstr>Where Should Your Runbooks Run? Hybrid vs. Cloud</vt:lpstr>
      <vt:lpstr>Example Use Cases</vt:lpstr>
      <vt:lpstr>Demos</vt:lpstr>
      <vt:lpstr>PowerPoint Presentation</vt:lpstr>
      <vt:lpstr>Instructions</vt:lpstr>
      <vt:lpstr>Instruction (Continued)</vt:lpstr>
      <vt:lpstr>Update the twitter handle on the master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Jess Pomfret</cp:lastModifiedBy>
  <cp:revision>12</cp:revision>
  <dcterms:created xsi:type="dcterms:W3CDTF">2024-03-26T13:08:23Z</dcterms:created>
  <dcterms:modified xsi:type="dcterms:W3CDTF">2025-06-21T13:50:42Z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0x0101006910B4CA76F661498C662C4D69800553</vt:lpwstr>
  </property>
  <property fmtid="{D5CDD505-2E9C-101B-9397-08002B2CF9AE}" pid="3" name="MediaServiceImageTags">
    <vt:lpwstr/>
  </property>
</Properties>
</file>